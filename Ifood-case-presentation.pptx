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7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17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28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_rels/slideLayout2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6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media/image9.png" ContentType="image/png"/>
  <Override PartName="/ppt/media/image18.png" ContentType="image/png"/>
  <Override PartName="/ppt/media/image20.png" ContentType="image/png"/>
  <Override PartName="/ppt/media/image12.png" ContentType="image/png"/>
  <Override PartName="/ppt/media/image3.png" ContentType="image/png"/>
  <Override PartName="/ppt/media/image8.png" ContentType="image/png"/>
  <Override PartName="/ppt/media/image17.png" ContentType="image/png"/>
  <Override PartName="/ppt/media/image11.png" ContentType="image/png"/>
  <Override PartName="/ppt/media/image2.png" ContentType="image/png"/>
  <Override PartName="/ppt/media/image7.png" ContentType="image/png"/>
  <Override PartName="/ppt/media/image16.png" ContentType="image/png"/>
  <Override PartName="/ppt/media/image10.png" ContentType="image/png"/>
  <Override PartName="/ppt/media/image1.png" ContentType="image/png"/>
  <Override PartName="/ppt/media/image6.png" ContentType="image/png"/>
  <Override PartName="/ppt/media/image15.png" ContentType="image/png"/>
  <Override PartName="/ppt/media/image28.png" ContentType="image/png"/>
  <Override PartName="/ppt/media/image27.png" ContentType="image/png"/>
  <Override PartName="/ppt/media/image26.png" ContentType="image/png"/>
  <Override PartName="/ppt/media/image25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14.png" ContentType="image/png"/>
  <Override PartName="/ppt/media/image5.png" ContentType="image/png"/>
  <Override PartName="/ppt/media/image21.png" ContentType="image/png"/>
  <Override PartName="/ppt/media/image19.png" ContentType="image/png"/>
  <Override PartName="/ppt/media/image13.jpeg" ContentType="image/jpeg"/>
  <Override PartName="/ppt/media/image4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4.xml.rels" ContentType="application/vnd.openxmlformats-package.relationships+xml"/>
  <Override PartName="/ppt/slides/_rels/slide26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28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25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7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8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dt" idx="27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 type="ftr" idx="28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PlaceHolder 6"/>
          <p:cNvSpPr>
            <a:spLocks noGrp="1"/>
          </p:cNvSpPr>
          <p:nvPr>
            <p:ph type="sldNum" idx="29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FAA067D-B3B2-43C2-9C34-2B2ABDD9B922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pt-BR" sz="11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O iFood nasceu para fazer essa revolução acontecer, saímos do mercado dominado pelo offline e partimos para transformar a forma como as pessoas pediam comida.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pt-BR" sz="11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Encontramos a Warehouse, que fez um investimento de 3,1 MM e com essa grana toda saímos para expandir e fazer o iFood crescer. 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29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pt-BR" sz="11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O iFood nasceu para fazer essa revolução acontecer, saímos do mercado dominado pelo offline e partimos para transformar a forma como as pessoas pediam comida.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pt-BR" sz="11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Encontramos a Warehouse, que fez um investimento de 3,1 MM e com essa grana toda saímos para expandir e fazer o iFood crescer. 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pt-BR" sz="11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O iFood nasceu para fazer essa revolução acontecer, saímos do mercado dominado pelo offline e partimos para transformar a forma como as pessoas pediam comida.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pt-BR" sz="11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Encontramos a Warehouse, que fez um investimento de 3,1 MM e com essa grana toda saímos para expandir e fazer o iFood crescer. 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pt-BR" sz="11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O iFood nasceu para fazer essa revolução acontecer, saímos do mercado dominado pelo offline e partimos para transformar a forma como as pessoas pediam comida.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pt-BR" sz="11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Encontramos a Warehouse, que fez um investimento de 3,1 MM e com essa grana toda saímos para expandir e fazer o iFood crescer. 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1.png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m Br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sldNum" idx="1"/>
          </p:nvPr>
        </p:nvSpPr>
        <p:spPr>
          <a:xfrm>
            <a:off x="4484520" y="4905360"/>
            <a:ext cx="169560" cy="172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900" strike="noStrike" u="none">
                <a:solidFill>
                  <a:srgbClr val="000000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30E6D82B-0EB7-4280-BB32-BE66A0E802F4}" type="slidenum">
              <a:rPr b="0" lang="pt-BR" sz="900" strike="noStrike" u="none">
                <a:solidFill>
                  <a:srgbClr val="000000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itação">
    <p:bg>
      <p:bgPr>
        <a:solidFill>
          <a:srgbClr val="f4e8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PlaceHolder 1"/>
          <p:cNvSpPr>
            <a:spLocks noGrp="1"/>
          </p:cNvSpPr>
          <p:nvPr>
            <p:ph type="sldNum" idx="2"/>
          </p:nvPr>
        </p:nvSpPr>
        <p:spPr>
          <a:xfrm>
            <a:off x="6498000" y="4767120"/>
            <a:ext cx="110160" cy="11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800" strike="noStrike" u="none">
                <a:solidFill>
                  <a:srgbClr val="a6aaa9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96B13B63-559E-4555-B00F-2D80D126F578}" type="slidenum">
              <a:rPr b="0" lang="pt-BR" sz="800" strike="noStrike" u="none">
                <a:solidFill>
                  <a:srgbClr val="a6aaa9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66720" y="861840"/>
            <a:ext cx="7809840" cy="174240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66720" y="2652840"/>
            <a:ext cx="7809840" cy="59472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4484520" y="4905360"/>
            <a:ext cx="169560" cy="172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900" strike="noStrike" u="none">
                <a:solidFill>
                  <a:srgbClr val="000000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22C430D3-F151-4DD6-BFBC-B9D1E9A1C95E}" type="slidenum">
              <a:rPr b="0" lang="pt-BR" sz="900" strike="noStrike" u="none">
                <a:solidFill>
                  <a:srgbClr val="000000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Foto - Horizont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body"/>
          </p:nvPr>
        </p:nvSpPr>
        <p:spPr>
          <a:xfrm>
            <a:off x="1172160" y="252360"/>
            <a:ext cx="6800400" cy="327600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17280" bIns="1728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title"/>
          </p:nvPr>
        </p:nvSpPr>
        <p:spPr>
          <a:xfrm>
            <a:off x="237960" y="3567240"/>
            <a:ext cx="8667360" cy="7516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237960" y="4290840"/>
            <a:ext cx="8667360" cy="59472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sldNum" idx="4"/>
          </p:nvPr>
        </p:nvSpPr>
        <p:spPr>
          <a:xfrm>
            <a:off x="4484520" y="4905360"/>
            <a:ext cx="169560" cy="172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900" strike="noStrike" u="none">
                <a:solidFill>
                  <a:srgbClr val="000000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AFF43091-237C-493B-99A6-5BEBDEC4E531}" type="slidenum">
              <a:rPr b="0" lang="pt-BR" sz="900" strike="noStrike" u="none">
                <a:solidFill>
                  <a:srgbClr val="000000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ítulo - Centr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66720" y="1700280"/>
            <a:ext cx="7809840" cy="174240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5"/>
          </p:nvPr>
        </p:nvSpPr>
        <p:spPr>
          <a:xfrm>
            <a:off x="4484520" y="4905360"/>
            <a:ext cx="169560" cy="172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900" strike="noStrike" u="none">
                <a:solidFill>
                  <a:srgbClr val="000000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5660773C-12B6-41F2-8304-379AB57B2A95}" type="slidenum">
              <a:rPr b="0" lang="pt-BR" sz="900" strike="noStrike" u="none">
                <a:solidFill>
                  <a:srgbClr val="000000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Foto -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body"/>
          </p:nvPr>
        </p:nvSpPr>
        <p:spPr>
          <a:xfrm>
            <a:off x="4937400" y="357120"/>
            <a:ext cx="3571200" cy="429984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17280" bIns="1728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title"/>
          </p:nvPr>
        </p:nvSpPr>
        <p:spPr>
          <a:xfrm>
            <a:off x="619200" y="357120"/>
            <a:ext cx="3832920" cy="208080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19200" y="2448000"/>
            <a:ext cx="3832920" cy="214704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sldNum" idx="6"/>
          </p:nvPr>
        </p:nvSpPr>
        <p:spPr>
          <a:xfrm>
            <a:off x="4484520" y="4905360"/>
            <a:ext cx="169560" cy="172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900" strike="noStrike" u="none">
                <a:solidFill>
                  <a:srgbClr val="000000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5F268C4D-EFF0-4FA7-82B3-5108E49D0AEE}" type="slidenum">
              <a:rPr b="0" lang="pt-BR" sz="900" strike="noStrike" u="none">
                <a:solidFill>
                  <a:srgbClr val="000000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ítulo - Superio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33240" y="133200"/>
            <a:ext cx="7876440" cy="85680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sldNum" idx="7"/>
          </p:nvPr>
        </p:nvSpPr>
        <p:spPr>
          <a:xfrm>
            <a:off x="4484520" y="4905360"/>
            <a:ext cx="169560" cy="172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900" strike="noStrike" u="none">
                <a:solidFill>
                  <a:srgbClr val="000000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8A3B1634-5706-490F-BF93-3810FFAEF7B1}" type="slidenum">
              <a:rPr b="0" lang="pt-BR" sz="900" strike="noStrike" u="none">
                <a:solidFill>
                  <a:srgbClr val="000000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ítulo e Marcadore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33240" y="133200"/>
            <a:ext cx="7876440" cy="85680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633240" y="1181160"/>
            <a:ext cx="7876440" cy="348552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ctr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sldNum" idx="8"/>
          </p:nvPr>
        </p:nvSpPr>
        <p:spPr>
          <a:xfrm>
            <a:off x="4484520" y="4905360"/>
            <a:ext cx="169560" cy="172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900" strike="noStrike" u="none">
                <a:solidFill>
                  <a:srgbClr val="000000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147BC9B3-E60F-4CCD-9C0C-8F6F1FCC09CD}" type="slidenum">
              <a:rPr b="0" lang="pt-BR" sz="900" strike="noStrike" u="none">
                <a:solidFill>
                  <a:srgbClr val="000000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rgbClr val="f4e8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760" cy="205200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5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5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311760" y="2834280"/>
            <a:ext cx="8519760" cy="79200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sldNum" idx="9"/>
          </p:nvPr>
        </p:nvSpPr>
        <p:spPr>
          <a:xfrm>
            <a:off x="8691480" y="4663080"/>
            <a:ext cx="110160" cy="11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800" strike="noStrike" u="none">
                <a:solidFill>
                  <a:srgbClr val="a6aaa9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48750B0B-46B3-4204-B038-FF488EF7EA98}" type="slidenum">
              <a:rPr b="0" lang="pt-BR" sz="800" strike="noStrike" u="none">
                <a:solidFill>
                  <a:srgbClr val="a6aaa9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ítulo, Marcadores e Fo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body"/>
          </p:nvPr>
        </p:nvSpPr>
        <p:spPr>
          <a:xfrm>
            <a:off x="4938840" y="1181160"/>
            <a:ext cx="3571200" cy="348552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17280" bIns="1728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title"/>
          </p:nvPr>
        </p:nvSpPr>
        <p:spPr>
          <a:xfrm>
            <a:off x="633240" y="133200"/>
            <a:ext cx="7876440" cy="85680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33240" y="1181160"/>
            <a:ext cx="3832920" cy="348552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ctr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sldNum" idx="10"/>
          </p:nvPr>
        </p:nvSpPr>
        <p:spPr>
          <a:xfrm>
            <a:off x="4484520" y="4905360"/>
            <a:ext cx="169560" cy="172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900" strike="noStrike" u="none">
                <a:solidFill>
                  <a:srgbClr val="000000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A8E91751-F27A-4AD1-81E4-C6EEB82AC6D1}" type="slidenum">
              <a:rPr b="0" lang="pt-BR" sz="900" strike="noStrike" u="none">
                <a:solidFill>
                  <a:srgbClr val="000000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rcadore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body"/>
          </p:nvPr>
        </p:nvSpPr>
        <p:spPr>
          <a:xfrm>
            <a:off x="633240" y="666720"/>
            <a:ext cx="7876440" cy="380916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ctr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sldNum" idx="11"/>
          </p:nvPr>
        </p:nvSpPr>
        <p:spPr>
          <a:xfrm>
            <a:off x="4484520" y="4905360"/>
            <a:ext cx="169560" cy="172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900" strike="noStrike" u="none">
                <a:solidFill>
                  <a:srgbClr val="000000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7A5FB146-F149-4942-8741-934DD26176FA}" type="slidenum">
              <a:rPr b="0" lang="pt-BR" sz="900" strike="noStrike" u="none">
                <a:solidFill>
                  <a:srgbClr val="000000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rês Fot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body"/>
          </p:nvPr>
        </p:nvSpPr>
        <p:spPr>
          <a:xfrm>
            <a:off x="5910120" y="2643120"/>
            <a:ext cx="2775960" cy="208080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17280" bIns="1728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910120" y="423720"/>
            <a:ext cx="2775960" cy="208080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17280" bIns="1728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52520" y="423720"/>
            <a:ext cx="5314320" cy="429984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17280" bIns="1728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sldNum" idx="12"/>
          </p:nvPr>
        </p:nvSpPr>
        <p:spPr>
          <a:xfrm>
            <a:off x="4484520" y="4905360"/>
            <a:ext cx="169560" cy="172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900" strike="noStrike" u="none">
                <a:solidFill>
                  <a:srgbClr val="000000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BCA5559E-DB84-414B-9DA4-6E131D49578B}" type="slidenum">
              <a:rPr b="0" lang="pt-BR" sz="900" strike="noStrike" u="none">
                <a:solidFill>
                  <a:srgbClr val="000000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itação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body"/>
          </p:nvPr>
        </p:nvSpPr>
        <p:spPr>
          <a:xfrm>
            <a:off x="895320" y="3357720"/>
            <a:ext cx="7357320" cy="2188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95320" y="2278800"/>
            <a:ext cx="7357320" cy="3088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ctr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sldNum" idx="13"/>
          </p:nvPr>
        </p:nvSpPr>
        <p:spPr>
          <a:xfrm>
            <a:off x="4484520" y="4905360"/>
            <a:ext cx="169560" cy="172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900" strike="noStrike" u="none">
                <a:solidFill>
                  <a:srgbClr val="000000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EDEB0301-3B19-4E92-9006-620482C26D0C}" type="slidenum">
              <a:rPr b="0" lang="pt-BR" sz="900" strike="noStrike" u="none">
                <a:solidFill>
                  <a:srgbClr val="000000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Fo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17280" bIns="1728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sldNum" idx="14"/>
          </p:nvPr>
        </p:nvSpPr>
        <p:spPr>
          <a:xfrm>
            <a:off x="4484520" y="4905360"/>
            <a:ext cx="169560" cy="172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900" strike="noStrike" u="none">
                <a:solidFill>
                  <a:srgbClr val="000000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7FDE321C-5575-4108-A30A-7D30D79EAE93}" type="slidenum">
              <a:rPr b="0" lang="pt-BR" sz="900" strike="noStrike" u="none">
                <a:solidFill>
                  <a:srgbClr val="000000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m log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51;p13"/>
          <p:cNvSpPr/>
          <p:nvPr/>
        </p:nvSpPr>
        <p:spPr>
          <a:xfrm>
            <a:off x="8051400" y="203760"/>
            <a:ext cx="875880" cy="509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1_Título 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33240" y="133200"/>
            <a:ext cx="7876440" cy="85680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Texto do Título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15"/>
          </p:nvPr>
        </p:nvSpPr>
        <p:spPr>
          <a:xfrm>
            <a:off x="4484520" y="4905360"/>
            <a:ext cx="169560" cy="172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rgbClr val="000000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D27689FF-7CED-45E0-924C-248E34AB497F}" type="slidenum">
              <a:rPr b="0" lang="en-US" sz="900" strike="noStrike" u="none">
                <a:solidFill>
                  <a:srgbClr val="000000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">
    <p:bg>
      <p:bgPr>
        <a:solidFill>
          <a:srgbClr val="ea00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7960" cy="60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Clique para editar os estilos de texto Mestres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770B5B0-030F-4CAF-BE48-0DBC5F3595E9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 number">
    <p:bg>
      <p:bgPr>
        <a:solidFill>
          <a:srgbClr val="ea00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311760" y="1106280"/>
            <a:ext cx="8519760" cy="196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2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Clique para editar o título Mestre</a:t>
            </a:r>
            <a:endParaRPr b="0" lang="en-US" sz="1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19760" cy="1299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15000"/>
              </a:lnSpc>
              <a:spcAft>
                <a:spcPts val="1599"/>
              </a:spcAft>
              <a:buNone/>
              <a:tabLst>
                <a:tab algn="l" pos="0"/>
              </a:tabLst>
            </a:pPr>
            <a:r>
              <a:rPr b="0" lang="pt-BR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Clique para editar os estilos de texto Mestres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BD6AA079-CAA8-4370-AD16-6B969A96752E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Em branco">
    <p:bg>
      <p:bgPr>
        <a:solidFill>
          <a:srgbClr val="ea00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25;p5"/>
          <p:cNvSpPr/>
          <p:nvPr/>
        </p:nvSpPr>
        <p:spPr>
          <a:xfrm>
            <a:off x="0" y="0"/>
            <a:ext cx="9143280" cy="5142960"/>
          </a:xfrm>
          <a:prstGeom prst="rect">
            <a:avLst/>
          </a:prstGeom>
          <a:solidFill>
            <a:srgbClr val="5934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350" strike="noStrike" u="non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50" name="PlaceHolder 1"/>
          <p:cNvSpPr>
            <a:spLocks noGrp="1"/>
          </p:cNvSpPr>
          <p:nvPr>
            <p:ph type="sldNum" idx="18"/>
          </p:nvPr>
        </p:nvSpPr>
        <p:spPr>
          <a:xfrm>
            <a:off x="6819120" y="4755960"/>
            <a:ext cx="205668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9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1DAE06B-A097-49C0-A46D-1448936EC836}" type="slidenum">
              <a:rPr b="0" lang="pt-BR" sz="9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9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title"/>
          </p:nvPr>
        </p:nvSpPr>
        <p:spPr>
          <a:xfrm>
            <a:off x="289440" y="163080"/>
            <a:ext cx="7886160" cy="55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pt-BR" sz="21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Clique para editar o título Mestre</a:t>
            </a:r>
            <a:endParaRPr b="0" lang="en-US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ftr" idx="19"/>
          </p:nvPr>
        </p:nvSpPr>
        <p:spPr>
          <a:xfrm>
            <a:off x="289440" y="4755960"/>
            <a:ext cx="646452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body"/>
          </p:nvPr>
        </p:nvSpPr>
        <p:spPr>
          <a:xfrm>
            <a:off x="289440" y="1202040"/>
            <a:ext cx="8586360" cy="343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04920">
              <a:lnSpc>
                <a:spcPct val="90000"/>
              </a:lnSpc>
              <a:spcBef>
                <a:spcPts val="751"/>
              </a:spcBef>
              <a:buClr>
                <a:srgbClr val="d8d8d8"/>
              </a:buClr>
              <a:buFont typeface="Arial"/>
              <a:buChar char="•"/>
            </a:pPr>
            <a:r>
              <a:rPr b="0" lang="pt-BR" sz="21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Clique para editar os estilos de texto Mestres</a:t>
            </a:r>
            <a:endParaRPr b="0" lang="en-US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289440" y="801360"/>
            <a:ext cx="6167160" cy="30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343080" indent="-17136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pt-BR" sz="135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Clique para editar os estilos de texto Mestres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5" name="Google Shape;31;p5" descr=""/>
          <p:cNvPicPr/>
          <p:nvPr/>
        </p:nvPicPr>
        <p:blipFill>
          <a:blip r:embed="rId2"/>
          <a:stretch/>
        </p:blipFill>
        <p:spPr>
          <a:xfrm>
            <a:off x="8175960" y="201240"/>
            <a:ext cx="867240" cy="4802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lide de Título">
    <p:bg>
      <p:bgPr>
        <a:solidFill>
          <a:srgbClr val="ea00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760" cy="205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5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Clique para editar o título Mestre</a:t>
            </a:r>
            <a:endParaRPr b="0" lang="en-US" sz="5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E4C4B5AC-242D-4584-8D2D-DFA512658672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1">
    <p:bg>
      <p:bgPr>
        <a:solidFill>
          <a:srgbClr val="ea00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760" cy="205200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b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5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Clique para editar o título Mestre</a:t>
            </a:r>
            <a:endParaRPr b="0" lang="en-US" sz="5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CFB2EEF-6330-4701-9762-A5767E36D69C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ea00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51;p13"/>
          <p:cNvSpPr/>
          <p:nvPr/>
        </p:nvSpPr>
        <p:spPr>
          <a:xfrm>
            <a:off x="8051400" y="203760"/>
            <a:ext cx="875880" cy="509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 and two columns">
    <p:bg>
      <p:bgPr>
        <a:solidFill>
          <a:srgbClr val="ea00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Clique para editar o título Mestre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240" cy="341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spcAft>
                <a:spcPts val="1599"/>
              </a:spcAft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Clique para editar os estilos de texto Mestres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9240" cy="341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spcAft>
                <a:spcPts val="1599"/>
              </a:spcAft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Clique para editar os estilos de texto Mestres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1C8FAB53-0592-4082-9E28-0B1C735C022D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mente Título">
    <p:bg>
      <p:bgPr>
        <a:solidFill>
          <a:srgbClr val="ea00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Clique para editar o título Mestre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A40148E0-6BEE-4DEC-82D2-328B9EA765AD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 column text">
    <p:bg>
      <p:bgPr>
        <a:solidFill>
          <a:srgbClr val="ea00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280" cy="75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Clique para editar o título Mestre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7280" cy="317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spcAft>
                <a:spcPts val="1599"/>
              </a:spcAft>
              <a:buNone/>
              <a:tabLst>
                <a:tab algn="l" pos="0"/>
              </a:tabLst>
            </a:pPr>
            <a:r>
              <a:rPr b="0" lang="pt-BR" sz="12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Clique para editar os estilos de texto Mestres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52BA35E-BE4A-4498-A20B-18B8D9406533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 point">
    <p:bg>
      <p:bgPr>
        <a:solidFill>
          <a:srgbClr val="ea00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6960" cy="4089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Clique para editar o título Mestre</a:t>
            </a:r>
            <a:endParaRPr b="0" lang="en-US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E37112A3-2417-4278-BA0C-4D7553F4AA73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title and description">
    <p:bg>
      <p:bgPr>
        <a:solidFill>
          <a:srgbClr val="ea00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36"/>
          <p:cNvSpPr/>
          <p:nvPr/>
        </p:nvSpPr>
        <p:spPr>
          <a:xfrm>
            <a:off x="4572000" y="0"/>
            <a:ext cx="4571280" cy="51429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4600" cy="148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Clique para editar o título Mestre</a:t>
            </a:r>
            <a:endParaRPr b="0" lang="en-US" sz="4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6160" cy="369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15000"/>
              </a:lnSpc>
              <a:spcAft>
                <a:spcPts val="1599"/>
              </a:spcAft>
              <a:buNone/>
              <a:tabLst>
                <a:tab algn="l" pos="0"/>
              </a:tabLst>
            </a:pPr>
            <a:r>
              <a:rPr b="0" lang="pt-BR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Clique para editar os estilos de texto Mestres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EF7DA9DF-A4F4-460D-9371-720A565BBC8C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9.xml"/><Relationship Id="rId5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6.png"/><Relationship Id="rId5" Type="http://schemas.openxmlformats.org/officeDocument/2006/relationships/image" Target="../media/image6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7.png"/><Relationship Id="rId9" Type="http://schemas.openxmlformats.org/officeDocument/2006/relationships/image" Target="../media/image7.png"/><Relationship Id="rId10" Type="http://schemas.openxmlformats.org/officeDocument/2006/relationships/image" Target="../media/image7.png"/><Relationship Id="rId11" Type="http://schemas.openxmlformats.org/officeDocument/2006/relationships/image" Target="../media/image5.png"/><Relationship Id="rId12" Type="http://schemas.openxmlformats.org/officeDocument/2006/relationships/image" Target="../media/image7.png"/><Relationship Id="rId13" Type="http://schemas.openxmlformats.org/officeDocument/2006/relationships/image" Target="../media/image7.png"/><Relationship Id="rId14" Type="http://schemas.openxmlformats.org/officeDocument/2006/relationships/image" Target="../media/image7.png"/><Relationship Id="rId15" Type="http://schemas.openxmlformats.org/officeDocument/2006/relationships/image" Target="../media/image6.png"/><Relationship Id="rId16" Type="http://schemas.openxmlformats.org/officeDocument/2006/relationships/image" Target="../media/image6.png"/><Relationship Id="rId17" Type="http://schemas.openxmlformats.org/officeDocument/2006/relationships/image" Target="../media/image8.png"/><Relationship Id="rId18" Type="http://schemas.openxmlformats.org/officeDocument/2006/relationships/slideLayout" Target="../slideLayouts/slideLayout1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0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6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jpeg"/><Relationship Id="rId3" Type="http://schemas.openxmlformats.org/officeDocument/2006/relationships/slideLayout" Target="../slideLayouts/slideLayout16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16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16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16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6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jpeg"/><Relationship Id="rId3" Type="http://schemas.openxmlformats.org/officeDocument/2006/relationships/image" Target="../media/image17.png"/><Relationship Id="rId4" Type="http://schemas.openxmlformats.org/officeDocument/2006/relationships/image" Target="../media/image17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7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8.png"/><Relationship Id="rId11" Type="http://schemas.openxmlformats.org/officeDocument/2006/relationships/image" Target="../media/image17.png"/><Relationship Id="rId12" Type="http://schemas.openxmlformats.org/officeDocument/2006/relationships/image" Target="../media/image19.png"/><Relationship Id="rId13" Type="http://schemas.openxmlformats.org/officeDocument/2006/relationships/image" Target="../media/image19.png"/><Relationship Id="rId14" Type="http://schemas.openxmlformats.org/officeDocument/2006/relationships/image" Target="../media/image19.png"/><Relationship Id="rId15" Type="http://schemas.openxmlformats.org/officeDocument/2006/relationships/slideLayout" Target="../slideLayouts/slideLayout16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16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21.png"/><Relationship Id="rId3" Type="http://schemas.openxmlformats.org/officeDocument/2006/relationships/slideLayout" Target="../slideLayouts/slideLayout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16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slideLayout" Target="../slideLayouts/slideLayout16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25.png"/><Relationship Id="rId3" Type="http://schemas.openxmlformats.org/officeDocument/2006/relationships/slideLayout" Target="../slideLayouts/slideLayout16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26.png"/><Relationship Id="rId3" Type="http://schemas.openxmlformats.org/officeDocument/2006/relationships/slideLayout" Target="../slideLayouts/slideLayout16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27.png"/><Relationship Id="rId3" Type="http://schemas.openxmlformats.org/officeDocument/2006/relationships/slideLayout" Target="../slideLayouts/slideLayout16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28.png"/><Relationship Id="rId3" Type="http://schemas.openxmlformats.org/officeDocument/2006/relationships/slideLayout" Target="../slideLayouts/slideLayout16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28.png"/><Relationship Id="rId3" Type="http://schemas.openxmlformats.org/officeDocument/2006/relationships/slideLayout" Target="../slideLayouts/slideLayout16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2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2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2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2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547;p142" descr=""/>
          <p:cNvPicPr/>
          <p:nvPr/>
        </p:nvPicPr>
        <p:blipFill>
          <a:blip r:embed="rId1"/>
          <a:stretch/>
        </p:blipFill>
        <p:spPr>
          <a:xfrm>
            <a:off x="0" y="0"/>
            <a:ext cx="9143280" cy="5173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670320" y="2265840"/>
            <a:ext cx="6619320" cy="70956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0" bIns="3420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6000" strike="noStrike" u="none">
                <a:solidFill>
                  <a:schemeClr val="lt1"/>
                </a:solidFill>
                <a:effectLst/>
                <a:uFillTx/>
                <a:latin typeface="Helvetica Neue"/>
                <a:ea typeface="Helvetica Neue"/>
              </a:rPr>
              <a:t>iFood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7" name="Google Shape;549;p142"/>
          <p:cNvCxnSpPr/>
          <p:nvPr/>
        </p:nvCxnSpPr>
        <p:spPr>
          <a:xfrm>
            <a:off x="0" y="5143320"/>
            <a:ext cx="9198720" cy="720"/>
          </a:xfrm>
          <a:prstGeom prst="straightConnector1">
            <a:avLst/>
          </a:prstGeom>
          <a:ln w="76200">
            <a:solidFill>
              <a:srgbClr val="ffffff"/>
            </a:solidFill>
            <a:round/>
          </a:ln>
        </p:spPr>
      </p:cxnSp>
      <p:pic>
        <p:nvPicPr>
          <p:cNvPr id="88" name="Google Shape;550;p142" descr=""/>
          <p:cNvPicPr/>
          <p:nvPr/>
        </p:nvPicPr>
        <p:blipFill>
          <a:blip r:embed="rId2"/>
          <a:stretch/>
        </p:blipFill>
        <p:spPr>
          <a:xfrm>
            <a:off x="7198560" y="2046600"/>
            <a:ext cx="1188720" cy="1049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Google Shape;564;p144"/>
          <p:cNvSpPr/>
          <p:nvPr/>
        </p:nvSpPr>
        <p:spPr>
          <a:xfrm>
            <a:off x="-355680" y="3345120"/>
            <a:ext cx="7570800" cy="56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280" rIns="17280" tIns="17280" bIns="17280" anchor="t">
            <a:noAutofit/>
          </a:bodyPr>
          <a:p>
            <a:pPr algn="ctr">
              <a:lnSpc>
                <a:spcPct val="90000"/>
              </a:lnSpc>
              <a:tabLst>
                <a:tab algn="l" pos="0"/>
              </a:tabLst>
            </a:pPr>
            <a:r>
              <a:rPr b="1" lang="pt-BR" sz="32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Marketing offer optimization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562;p144" descr=""/>
          <p:cNvPicPr/>
          <p:nvPr/>
        </p:nvPicPr>
        <p:blipFill>
          <a:blip r:embed="rId1"/>
          <a:stretch/>
        </p:blipFill>
        <p:spPr>
          <a:xfrm>
            <a:off x="8621640" y="233280"/>
            <a:ext cx="251280" cy="22176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91" name="Google Shape;563;p144"/>
          <p:cNvCxnSpPr/>
          <p:nvPr/>
        </p:nvCxnSpPr>
        <p:spPr>
          <a:xfrm>
            <a:off x="0" y="5143320"/>
            <a:ext cx="9198720" cy="720"/>
          </a:xfrm>
          <a:prstGeom prst="straightConnector1">
            <a:avLst/>
          </a:prstGeom>
          <a:ln w="76200">
            <a:solidFill>
              <a:srgbClr val="ea1d2c"/>
            </a:solidFill>
            <a:round/>
          </a:ln>
        </p:spPr>
      </p:cxnSp>
      <p:sp>
        <p:nvSpPr>
          <p:cNvPr id="92" name="Google Shape;564;p144"/>
          <p:cNvSpPr/>
          <p:nvPr/>
        </p:nvSpPr>
        <p:spPr>
          <a:xfrm>
            <a:off x="-601200" y="787320"/>
            <a:ext cx="4027320" cy="56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280" rIns="17280" tIns="17280" bIns="17280" anchor="t">
            <a:noAutofit/>
          </a:bodyPr>
          <a:p>
            <a:pPr algn="ctr">
              <a:lnSpc>
                <a:spcPct val="90000"/>
              </a:lnSpc>
              <a:tabLst>
                <a:tab algn="l" pos="0"/>
              </a:tabLst>
            </a:pPr>
            <a:r>
              <a:rPr b="1" lang="pt-BR" sz="4000" strike="noStrike" u="none"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</a:rPr>
              <a:t>Problem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Google Shape;565;p144"/>
          <p:cNvSpPr/>
          <p:nvPr/>
        </p:nvSpPr>
        <p:spPr>
          <a:xfrm>
            <a:off x="362520" y="1461600"/>
            <a:ext cx="4055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280" rIns="17280" tIns="17280" bIns="17280" anchor="t">
            <a:noAutofit/>
          </a:bodyPr>
          <a:p>
            <a:pPr algn="ctr">
              <a:lnSpc>
                <a:spcPct val="115000"/>
              </a:lnSpc>
              <a:tabLst>
                <a:tab algn="l" pos="0"/>
              </a:tabLst>
            </a:pPr>
            <a:r>
              <a:rPr b="0" lang="pt-BR" sz="1400" strike="noStrike" u="none">
                <a:solidFill>
                  <a:srgbClr val="434343"/>
                </a:solidFill>
                <a:effectLst/>
                <a:uFillTx/>
                <a:latin typeface="Helvetica Neue Light"/>
                <a:ea typeface="Helvetica Neue Light"/>
              </a:rPr>
              <a:t>Currently, we send the food offers to </a:t>
            </a: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Helvetica Neue Light"/>
                <a:ea typeface="Helvetica Neue Light"/>
              </a:rPr>
              <a:t>all</a:t>
            </a:r>
            <a:r>
              <a:rPr b="0" lang="pt-BR" sz="1400" strike="noStrike" u="none">
                <a:solidFill>
                  <a:srgbClr val="434343"/>
                </a:solidFill>
                <a:effectLst/>
                <a:uFillTx/>
                <a:latin typeface="Helvetica Neue Light"/>
                <a:ea typeface="Helvetica Neue Light"/>
              </a:rPr>
              <a:t> the users.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4" name="Picture 2" descr="Voucher - Free food icons"/>
          <p:cNvPicPr/>
          <p:nvPr/>
        </p:nvPicPr>
        <p:blipFill>
          <a:blip r:embed="rId2"/>
          <a:stretch/>
        </p:blipFill>
        <p:spPr>
          <a:xfrm>
            <a:off x="1429560" y="2412360"/>
            <a:ext cx="644400" cy="64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5" name="Picture 4" descr="Delete user - Free interface icons"/>
          <p:cNvPicPr/>
          <p:nvPr/>
        </p:nvPicPr>
        <p:blipFill>
          <a:blip r:embed="rId3"/>
          <a:stretch/>
        </p:blipFill>
        <p:spPr>
          <a:xfrm>
            <a:off x="2810160" y="1900440"/>
            <a:ext cx="379800" cy="37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6" name="Picture 4" descr="Delete user - Free interface icons"/>
          <p:cNvPicPr/>
          <p:nvPr/>
        </p:nvPicPr>
        <p:blipFill>
          <a:blip r:embed="rId4"/>
          <a:stretch/>
        </p:blipFill>
        <p:spPr>
          <a:xfrm>
            <a:off x="2581200" y="2513880"/>
            <a:ext cx="379800" cy="37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7" name="Picture 4" descr="Delete user - Free interface icons"/>
          <p:cNvPicPr/>
          <p:nvPr/>
        </p:nvPicPr>
        <p:blipFill>
          <a:blip r:embed="rId5"/>
          <a:stretch/>
        </p:blipFill>
        <p:spPr>
          <a:xfrm>
            <a:off x="3140280" y="2894400"/>
            <a:ext cx="379800" cy="37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8" name="Picture 4" descr="Delete user - Free interface icons"/>
          <p:cNvPicPr/>
          <p:nvPr/>
        </p:nvPicPr>
        <p:blipFill>
          <a:blip r:embed="rId6"/>
          <a:stretch/>
        </p:blipFill>
        <p:spPr>
          <a:xfrm>
            <a:off x="3011400" y="3594240"/>
            <a:ext cx="379800" cy="37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9" name="Picture 6" descr="Add user - Free social icons"/>
          <p:cNvPicPr/>
          <p:nvPr/>
        </p:nvPicPr>
        <p:blipFill>
          <a:blip r:embed="rId7"/>
          <a:stretch/>
        </p:blipFill>
        <p:spPr>
          <a:xfrm>
            <a:off x="3201840" y="2221560"/>
            <a:ext cx="275400" cy="27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" name="Picture 6" descr="Add user - Free social icons"/>
          <p:cNvPicPr/>
          <p:nvPr/>
        </p:nvPicPr>
        <p:blipFill>
          <a:blip r:embed="rId8"/>
          <a:stretch/>
        </p:blipFill>
        <p:spPr>
          <a:xfrm>
            <a:off x="2637000" y="2989080"/>
            <a:ext cx="275400" cy="27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1" name="Picture 6" descr="Add user - Free social icons"/>
          <p:cNvPicPr/>
          <p:nvPr/>
        </p:nvPicPr>
        <p:blipFill>
          <a:blip r:embed="rId9"/>
          <a:stretch/>
        </p:blipFill>
        <p:spPr>
          <a:xfrm>
            <a:off x="2517480" y="3544920"/>
            <a:ext cx="275400" cy="27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2" name="Picture 6" descr="Add user - Free social icons"/>
          <p:cNvPicPr/>
          <p:nvPr/>
        </p:nvPicPr>
        <p:blipFill>
          <a:blip r:embed="rId10"/>
          <a:stretch/>
        </p:blipFill>
        <p:spPr>
          <a:xfrm>
            <a:off x="2390760" y="2050560"/>
            <a:ext cx="275400" cy="2754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03" name="Conector de Seta Reta 9"/>
          <p:cNvCxnSpPr>
            <a:stCxn id="94" idx="3"/>
            <a:endCxn id="102" idx="2"/>
          </p:cNvCxnSpPr>
          <p:nvPr/>
        </p:nvCxnSpPr>
        <p:spPr>
          <a:xfrm flipV="1">
            <a:off x="2073960" y="2325960"/>
            <a:ext cx="454680" cy="408960"/>
          </a:xfrm>
          <a:prstGeom prst="straightConnector1">
            <a:avLst/>
          </a:prstGeom>
          <a:ln w="0">
            <a:solidFill>
              <a:srgbClr val="009ef9"/>
            </a:solidFill>
            <a:tailEnd len="med" type="triangle" w="med"/>
          </a:ln>
        </p:spPr>
      </p:cxnSp>
      <p:cxnSp>
        <p:nvCxnSpPr>
          <p:cNvPr id="104" name="Conector de Seta Reta 11"/>
          <p:cNvCxnSpPr>
            <a:stCxn id="94" idx="3"/>
            <a:endCxn id="95" idx="2"/>
          </p:cNvCxnSpPr>
          <p:nvPr/>
        </p:nvCxnSpPr>
        <p:spPr>
          <a:xfrm flipV="1">
            <a:off x="2073960" y="2280240"/>
            <a:ext cx="926280" cy="454680"/>
          </a:xfrm>
          <a:prstGeom prst="straightConnector1">
            <a:avLst/>
          </a:prstGeom>
          <a:ln w="0">
            <a:solidFill>
              <a:srgbClr val="009ef9"/>
            </a:solidFill>
            <a:tailEnd len="med" type="triangle" w="med"/>
          </a:ln>
        </p:spPr>
      </p:cxnSp>
      <p:cxnSp>
        <p:nvCxnSpPr>
          <p:cNvPr id="105" name="Conector de Seta Reta 14"/>
          <p:cNvCxnSpPr>
            <a:stCxn id="94" idx="3"/>
            <a:endCxn id="99" idx="1"/>
          </p:cNvCxnSpPr>
          <p:nvPr/>
        </p:nvCxnSpPr>
        <p:spPr>
          <a:xfrm flipV="1">
            <a:off x="2073960" y="2359080"/>
            <a:ext cx="1128240" cy="375840"/>
          </a:xfrm>
          <a:prstGeom prst="straightConnector1">
            <a:avLst/>
          </a:prstGeom>
          <a:ln w="0">
            <a:solidFill>
              <a:srgbClr val="009ef9"/>
            </a:solidFill>
            <a:tailEnd len="med" type="triangle" w="med"/>
          </a:ln>
        </p:spPr>
      </p:cxnSp>
      <p:cxnSp>
        <p:nvCxnSpPr>
          <p:cNvPr id="106" name="Conector de Seta Reta 17"/>
          <p:cNvCxnSpPr>
            <a:endCxn id="96" idx="1"/>
          </p:cNvCxnSpPr>
          <p:nvPr/>
        </p:nvCxnSpPr>
        <p:spPr>
          <a:xfrm flipV="1">
            <a:off x="2031480" y="2703600"/>
            <a:ext cx="550080" cy="186120"/>
          </a:xfrm>
          <a:prstGeom prst="straightConnector1">
            <a:avLst/>
          </a:prstGeom>
          <a:ln w="0">
            <a:solidFill>
              <a:srgbClr val="009ef9"/>
            </a:solidFill>
            <a:tailEnd len="med" type="triangle" w="med"/>
          </a:ln>
        </p:spPr>
      </p:cxnSp>
      <p:cxnSp>
        <p:nvCxnSpPr>
          <p:cNvPr id="107" name="Conector de Seta Reta 20"/>
          <p:cNvCxnSpPr>
            <a:endCxn id="100" idx="1"/>
          </p:cNvCxnSpPr>
          <p:nvPr/>
        </p:nvCxnSpPr>
        <p:spPr>
          <a:xfrm>
            <a:off x="2046960" y="2901960"/>
            <a:ext cx="590400" cy="225000"/>
          </a:xfrm>
          <a:prstGeom prst="straightConnector1">
            <a:avLst/>
          </a:prstGeom>
          <a:ln w="0">
            <a:solidFill>
              <a:srgbClr val="009ef9"/>
            </a:solidFill>
            <a:tailEnd len="med" type="triangle" w="med"/>
          </a:ln>
        </p:spPr>
      </p:cxnSp>
      <p:cxnSp>
        <p:nvCxnSpPr>
          <p:cNvPr id="108" name="Conector de Seta Reta 23"/>
          <p:cNvCxnSpPr>
            <a:stCxn id="94" idx="3"/>
            <a:endCxn id="97" idx="1"/>
          </p:cNvCxnSpPr>
          <p:nvPr/>
        </p:nvCxnSpPr>
        <p:spPr>
          <a:xfrm>
            <a:off x="2073960" y="2734560"/>
            <a:ext cx="1066680" cy="349920"/>
          </a:xfrm>
          <a:prstGeom prst="straightConnector1">
            <a:avLst/>
          </a:prstGeom>
          <a:ln w="0">
            <a:solidFill>
              <a:srgbClr val="009ef9"/>
            </a:solidFill>
            <a:tailEnd len="med" type="triangle" w="med"/>
          </a:ln>
        </p:spPr>
      </p:cxnSp>
      <p:cxnSp>
        <p:nvCxnSpPr>
          <p:cNvPr id="109" name="Conector de Seta Reta 27"/>
          <p:cNvCxnSpPr>
            <a:stCxn id="94" idx="2"/>
            <a:endCxn id="101" idx="1"/>
          </p:cNvCxnSpPr>
          <p:nvPr/>
        </p:nvCxnSpPr>
        <p:spPr>
          <a:xfrm>
            <a:off x="1751760" y="3056760"/>
            <a:ext cx="766080" cy="626040"/>
          </a:xfrm>
          <a:prstGeom prst="straightConnector1">
            <a:avLst/>
          </a:prstGeom>
          <a:ln w="0">
            <a:solidFill>
              <a:srgbClr val="009ef9"/>
            </a:solidFill>
            <a:tailEnd len="med" type="triangle" w="med"/>
          </a:ln>
        </p:spPr>
      </p:cxnSp>
      <p:cxnSp>
        <p:nvCxnSpPr>
          <p:cNvPr id="110" name="Conector de Seta Reta 30"/>
          <p:cNvCxnSpPr>
            <a:stCxn id="94" idx="2"/>
            <a:endCxn id="98" idx="0"/>
          </p:cNvCxnSpPr>
          <p:nvPr/>
        </p:nvCxnSpPr>
        <p:spPr>
          <a:xfrm>
            <a:off x="1751760" y="3056760"/>
            <a:ext cx="1449720" cy="537840"/>
          </a:xfrm>
          <a:prstGeom prst="straightConnector1">
            <a:avLst/>
          </a:prstGeom>
          <a:ln w="0">
            <a:solidFill>
              <a:srgbClr val="009ef9"/>
            </a:solidFill>
            <a:tailEnd len="med" type="triangle" w="med"/>
          </a:ln>
        </p:spPr>
      </p:cxnSp>
      <p:pic>
        <p:nvPicPr>
          <p:cNvPr id="111" name="Picture 2" descr="Voucher - Free food icons"/>
          <p:cNvPicPr/>
          <p:nvPr/>
        </p:nvPicPr>
        <p:blipFill>
          <a:blip r:embed="rId11"/>
          <a:stretch/>
        </p:blipFill>
        <p:spPr>
          <a:xfrm>
            <a:off x="5446800" y="2032560"/>
            <a:ext cx="644400" cy="64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2" name="Picture 6" descr="Add user - Free social icons"/>
          <p:cNvPicPr/>
          <p:nvPr/>
        </p:nvPicPr>
        <p:blipFill>
          <a:blip r:embed="rId12"/>
          <a:stretch/>
        </p:blipFill>
        <p:spPr>
          <a:xfrm>
            <a:off x="6653880" y="2139480"/>
            <a:ext cx="275400" cy="27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3" name="Picture 6" descr="Add user - Free social icons"/>
          <p:cNvPicPr/>
          <p:nvPr/>
        </p:nvPicPr>
        <p:blipFill>
          <a:blip r:embed="rId13"/>
          <a:stretch/>
        </p:blipFill>
        <p:spPr>
          <a:xfrm>
            <a:off x="6653880" y="2609280"/>
            <a:ext cx="275400" cy="27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4" name="Picture 6" descr="Add user - Free social icons"/>
          <p:cNvPicPr/>
          <p:nvPr/>
        </p:nvPicPr>
        <p:blipFill>
          <a:blip r:embed="rId14"/>
          <a:stretch/>
        </p:blipFill>
        <p:spPr>
          <a:xfrm>
            <a:off x="6407640" y="1670760"/>
            <a:ext cx="275400" cy="2754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15" name="Conector de Seta Reta 42"/>
          <p:cNvCxnSpPr>
            <a:endCxn id="114" idx="2"/>
          </p:cNvCxnSpPr>
          <p:nvPr/>
        </p:nvCxnSpPr>
        <p:spPr>
          <a:xfrm flipV="1">
            <a:off x="6042600" y="1946160"/>
            <a:ext cx="502920" cy="255240"/>
          </a:xfrm>
          <a:prstGeom prst="straightConnector1">
            <a:avLst/>
          </a:prstGeom>
          <a:ln w="0">
            <a:solidFill>
              <a:srgbClr val="009ef9"/>
            </a:solidFill>
            <a:tailEnd len="med" type="triangle" w="med"/>
          </a:ln>
        </p:spPr>
      </p:cxnSp>
      <p:cxnSp>
        <p:nvCxnSpPr>
          <p:cNvPr id="116" name="Conector de Seta Reta 44"/>
          <p:cNvCxnSpPr>
            <a:stCxn id="111" idx="3"/>
          </p:cNvCxnSpPr>
          <p:nvPr/>
        </p:nvCxnSpPr>
        <p:spPr>
          <a:xfrm flipV="1">
            <a:off x="6091200" y="2280960"/>
            <a:ext cx="514080" cy="74160"/>
          </a:xfrm>
          <a:prstGeom prst="straightConnector1">
            <a:avLst/>
          </a:prstGeom>
          <a:ln w="0">
            <a:solidFill>
              <a:srgbClr val="009ef9"/>
            </a:solidFill>
            <a:tailEnd len="med" type="triangle" w="med"/>
          </a:ln>
        </p:spPr>
      </p:cxnSp>
      <p:cxnSp>
        <p:nvCxnSpPr>
          <p:cNvPr id="117" name="Conector de Seta Reta 46"/>
          <p:cNvCxnSpPr>
            <a:endCxn id="113" idx="1"/>
          </p:cNvCxnSpPr>
          <p:nvPr/>
        </p:nvCxnSpPr>
        <p:spPr>
          <a:xfrm>
            <a:off x="6063840" y="2522160"/>
            <a:ext cx="590400" cy="225000"/>
          </a:xfrm>
          <a:prstGeom prst="straightConnector1">
            <a:avLst/>
          </a:prstGeom>
          <a:ln w="0">
            <a:solidFill>
              <a:srgbClr val="009ef9"/>
            </a:solidFill>
            <a:tailEnd len="med" type="triangle" w="med"/>
          </a:ln>
        </p:spPr>
      </p:cxnSp>
      <p:cxnSp>
        <p:nvCxnSpPr>
          <p:cNvPr id="118" name="Conector de Seta Reta 522"/>
          <p:cNvCxnSpPr/>
          <p:nvPr/>
        </p:nvCxnSpPr>
        <p:spPr>
          <a:xfrm flipV="1">
            <a:off x="5880240" y="3252240"/>
            <a:ext cx="652320" cy="178560"/>
          </a:xfrm>
          <a:prstGeom prst="straightConnector1">
            <a:avLst/>
          </a:prstGeom>
          <a:ln w="0">
            <a:solidFill>
              <a:srgbClr val="009ef9"/>
            </a:solidFill>
            <a:tailEnd len="med" type="triangle" w="med"/>
          </a:ln>
        </p:spPr>
      </p:cxnSp>
      <p:cxnSp>
        <p:nvCxnSpPr>
          <p:cNvPr id="119" name="Conector de Seta Reta 523"/>
          <p:cNvCxnSpPr/>
          <p:nvPr/>
        </p:nvCxnSpPr>
        <p:spPr>
          <a:xfrm>
            <a:off x="5879880" y="3449880"/>
            <a:ext cx="652680" cy="216360"/>
          </a:xfrm>
          <a:prstGeom prst="straightConnector1">
            <a:avLst/>
          </a:prstGeom>
          <a:ln w="0">
            <a:solidFill>
              <a:srgbClr val="009ef9"/>
            </a:solidFill>
            <a:tailEnd len="med" type="triangle" w="med"/>
          </a:ln>
        </p:spPr>
      </p:cxnSp>
      <p:pic>
        <p:nvPicPr>
          <p:cNvPr id="120" name="Picture 4" descr="Delete user - Free interface icons"/>
          <p:cNvPicPr/>
          <p:nvPr/>
        </p:nvPicPr>
        <p:blipFill>
          <a:blip r:embed="rId15"/>
          <a:stretch/>
        </p:blipFill>
        <p:spPr>
          <a:xfrm>
            <a:off x="6531840" y="3062160"/>
            <a:ext cx="379800" cy="37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1" name="Picture 4" descr="Delete user - Free interface icons"/>
          <p:cNvPicPr/>
          <p:nvPr/>
        </p:nvPicPr>
        <p:blipFill>
          <a:blip r:embed="rId16"/>
          <a:stretch/>
        </p:blipFill>
        <p:spPr>
          <a:xfrm>
            <a:off x="6531840" y="3475440"/>
            <a:ext cx="379800" cy="37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2" name="Picture 8" descr="Offers Save Icon Format PNG Transparent Background, Free Download #20741 -  FreeIconsPNG"/>
          <p:cNvPicPr/>
          <p:nvPr/>
        </p:nvPicPr>
        <p:blipFill>
          <a:blip r:embed="rId17"/>
          <a:stretch/>
        </p:blipFill>
        <p:spPr>
          <a:xfrm>
            <a:off x="5396400" y="3208320"/>
            <a:ext cx="483120" cy="483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Seta: para a Direita 528"/>
          <p:cNvSpPr/>
          <p:nvPr/>
        </p:nvSpPr>
        <p:spPr>
          <a:xfrm>
            <a:off x="3832560" y="2928960"/>
            <a:ext cx="1310040" cy="299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a2ff"/>
          </a:solidFill>
          <a:ln>
            <a:solidFill>
              <a:srgbClr val="00476f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24" name="Google Shape;565;p144"/>
          <p:cNvSpPr/>
          <p:nvPr/>
        </p:nvSpPr>
        <p:spPr>
          <a:xfrm>
            <a:off x="3803760" y="2491560"/>
            <a:ext cx="1287720" cy="29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280" rIns="17280" tIns="17280" bIns="17280" anchor="t">
            <a:noAutofit/>
          </a:bodyPr>
          <a:p>
            <a:pPr algn="ctr">
              <a:lnSpc>
                <a:spcPct val="115000"/>
              </a:lnSpc>
              <a:tabLst>
                <a:tab algn="l" pos="0"/>
              </a:tabLst>
            </a:pPr>
            <a:r>
              <a:rPr b="0" lang="pt-BR" sz="700" strike="noStrike" u="none">
                <a:solidFill>
                  <a:srgbClr val="434343"/>
                </a:solidFill>
                <a:effectLst/>
                <a:uFillTx/>
                <a:latin typeface="Helvetica Neue Light"/>
                <a:ea typeface="Helvetica Neue Light"/>
              </a:rPr>
              <a:t>We want to </a:t>
            </a:r>
            <a:r>
              <a:rPr b="1" lang="pt-BR" sz="900" strike="noStrike" u="none">
                <a:solidFill>
                  <a:schemeClr val="accent3">
                    <a:lumMod val="75000"/>
                  </a:schemeClr>
                </a:solidFill>
                <a:effectLst/>
                <a:uFillTx/>
                <a:latin typeface="Helvetica Neue Light"/>
                <a:ea typeface="Helvetica Neue Light"/>
              </a:rPr>
              <a:t>know</a:t>
            </a:r>
            <a:r>
              <a:rPr b="0" lang="pt-BR" sz="700" strike="noStrike" u="none">
                <a:solidFill>
                  <a:srgbClr val="434343"/>
                </a:solidFill>
                <a:effectLst/>
                <a:uFillTx/>
                <a:latin typeface="Helvetica Neue Light"/>
                <a:ea typeface="Helvetica Neue Light"/>
              </a:rPr>
              <a:t> the user </a:t>
            </a:r>
            <a:r>
              <a:rPr b="0" lang="pt-BR" sz="700" strike="noStrike" u="none">
                <a:solidFill>
                  <a:srgbClr val="e4177d"/>
                </a:solidFill>
                <a:effectLst/>
                <a:uFillTx/>
                <a:latin typeface="Helvetica Neue Light"/>
                <a:ea typeface="Helvetica Neue Light"/>
              </a:rPr>
              <a:t>behavior</a:t>
            </a:r>
            <a:r>
              <a:rPr b="0" lang="pt-BR" sz="700" strike="noStrike" u="none">
                <a:solidFill>
                  <a:srgbClr val="434343"/>
                </a:solidFill>
                <a:effectLst/>
                <a:uFillTx/>
                <a:latin typeface="Helvetica Neue Light"/>
                <a:ea typeface="Helvetica Neue Light"/>
              </a:rPr>
              <a:t>, and </a:t>
            </a:r>
            <a:r>
              <a:rPr b="1" lang="pt-BR" sz="900" strike="noStrike" u="none">
                <a:solidFill>
                  <a:schemeClr val="accent1"/>
                </a:solidFill>
                <a:effectLst/>
                <a:uFillTx/>
                <a:latin typeface="Helvetica Neue Light"/>
                <a:ea typeface="Helvetica Neue Light"/>
              </a:rPr>
              <a:t>optimize</a:t>
            </a:r>
            <a:r>
              <a:rPr b="0" lang="pt-BR" sz="700" strike="noStrike" u="none">
                <a:solidFill>
                  <a:srgbClr val="434343"/>
                </a:solidFill>
                <a:effectLst/>
                <a:uFillTx/>
                <a:latin typeface="Helvetica Neue Light"/>
                <a:ea typeface="Helvetica Neue Light"/>
              </a:rPr>
              <a:t> our offers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Chave Esquerda 531"/>
          <p:cNvSpPr/>
          <p:nvPr/>
        </p:nvSpPr>
        <p:spPr>
          <a:xfrm rot="16200000">
            <a:off x="2386440" y="3289680"/>
            <a:ext cx="258480" cy="1936080"/>
          </a:xfrm>
          <a:prstGeom prst="leftBrace">
            <a:avLst>
              <a:gd name="adj1" fmla="val 8333"/>
              <a:gd name="adj2" fmla="val 50000"/>
            </a:avLst>
          </a:prstGeom>
          <a:noFill/>
          <a:ln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4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26" name="Google Shape;565;p144"/>
          <p:cNvSpPr/>
          <p:nvPr/>
        </p:nvSpPr>
        <p:spPr>
          <a:xfrm>
            <a:off x="1447560" y="4364280"/>
            <a:ext cx="2141280" cy="48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280" rIns="17280" tIns="17280" bIns="17280" anchor="t">
            <a:noAutofit/>
          </a:bodyPr>
          <a:p>
            <a:pPr algn="ctr">
              <a:lnSpc>
                <a:spcPct val="115000"/>
              </a:lnSpc>
              <a:tabLst>
                <a:tab algn="l" pos="0"/>
              </a:tabLst>
            </a:pP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Helvetica Neue Light"/>
                <a:ea typeface="Helvetica Neue Light"/>
              </a:rPr>
              <a:t>Costly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15000"/>
              </a:lnSpc>
              <a:tabLst>
                <a:tab algn="l" pos="0"/>
              </a:tabLst>
            </a:pPr>
            <a:r>
              <a:rPr b="1" lang="pt-BR" sz="1600" strike="noStrike" u="none">
                <a:solidFill>
                  <a:schemeClr val="dk1"/>
                </a:solidFill>
                <a:effectLst/>
                <a:uFillTx/>
                <a:latin typeface="Helvetica Neue Light"/>
                <a:ea typeface="Helvetica Neue Light"/>
              </a:rPr>
              <a:t>Low conversion rate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7" name="Conector de Seta Reta 534"/>
          <p:cNvCxnSpPr/>
          <p:nvPr/>
        </p:nvCxnSpPr>
        <p:spPr>
          <a:xfrm>
            <a:off x="3652200" y="4627440"/>
            <a:ext cx="720" cy="293400"/>
          </a:xfrm>
          <a:prstGeom prst="straightConnector1">
            <a:avLst/>
          </a:prstGeom>
          <a:ln w="3810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128" name="Conector de Seta Reta 539"/>
          <p:cNvCxnSpPr/>
          <p:nvPr/>
        </p:nvCxnSpPr>
        <p:spPr>
          <a:xfrm flipV="1">
            <a:off x="2901240" y="4334760"/>
            <a:ext cx="720" cy="257040"/>
          </a:xfrm>
          <a:prstGeom prst="straightConnector1">
            <a:avLst/>
          </a:prstGeom>
          <a:ln w="3810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129" name="Chave Esquerda 547"/>
          <p:cNvSpPr/>
          <p:nvPr/>
        </p:nvSpPr>
        <p:spPr>
          <a:xfrm rot="16200000">
            <a:off x="6164640" y="3159360"/>
            <a:ext cx="258480" cy="1936080"/>
          </a:xfrm>
          <a:prstGeom prst="leftBrace">
            <a:avLst>
              <a:gd name="adj1" fmla="val 8333"/>
              <a:gd name="adj2" fmla="val 50000"/>
            </a:avLst>
          </a:prstGeom>
          <a:noFill/>
          <a:ln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4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30" name="Google Shape;565;p144"/>
          <p:cNvSpPr/>
          <p:nvPr/>
        </p:nvSpPr>
        <p:spPr>
          <a:xfrm>
            <a:off x="5029200" y="4347360"/>
            <a:ext cx="2317320" cy="48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280" rIns="17280" tIns="17280" bIns="17280" anchor="t">
            <a:noAutofit/>
          </a:bodyPr>
          <a:p>
            <a:pPr algn="ctr">
              <a:lnSpc>
                <a:spcPct val="115000"/>
              </a:lnSpc>
              <a:tabLst>
                <a:tab algn="l" pos="0"/>
              </a:tabLst>
            </a:pP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Helvetica Neue Light"/>
                <a:ea typeface="Helvetica Neue Light"/>
              </a:rPr>
              <a:t>Cheaper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15000"/>
              </a:lnSpc>
              <a:tabLst>
                <a:tab algn="l" pos="0"/>
              </a:tabLst>
            </a:pPr>
            <a:r>
              <a:rPr b="1" lang="pt-BR" sz="1600" strike="noStrike" u="none">
                <a:solidFill>
                  <a:schemeClr val="dk1"/>
                </a:solidFill>
                <a:effectLst/>
                <a:uFillTx/>
                <a:latin typeface="Helvetica Neue Light"/>
                <a:ea typeface="Helvetica Neue Light"/>
              </a:rPr>
              <a:t>High conversion rate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1" name="Conector de Seta Reta 550"/>
          <p:cNvCxnSpPr/>
          <p:nvPr/>
        </p:nvCxnSpPr>
        <p:spPr>
          <a:xfrm>
            <a:off x="6777720" y="4347000"/>
            <a:ext cx="720" cy="293400"/>
          </a:xfrm>
          <a:prstGeom prst="straightConnector1">
            <a:avLst/>
          </a:prstGeom>
          <a:ln w="38100">
            <a:solidFill>
              <a:srgbClr val="61d836"/>
            </a:solidFill>
            <a:round/>
            <a:tailEnd len="med" type="triangle" w="med"/>
          </a:ln>
        </p:spPr>
      </p:cxnSp>
      <p:cxnSp>
        <p:nvCxnSpPr>
          <p:cNvPr id="132" name="Conector de Seta Reta 551"/>
          <p:cNvCxnSpPr/>
          <p:nvPr/>
        </p:nvCxnSpPr>
        <p:spPr>
          <a:xfrm flipV="1">
            <a:off x="7406280" y="4574520"/>
            <a:ext cx="720" cy="257040"/>
          </a:xfrm>
          <a:prstGeom prst="straightConnector1">
            <a:avLst/>
          </a:prstGeom>
          <a:ln w="38100">
            <a:solidFill>
              <a:srgbClr val="e4177d"/>
            </a:solidFill>
            <a:round/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96"/>
          <p:cNvSpPr/>
          <p:nvPr/>
        </p:nvSpPr>
        <p:spPr>
          <a:xfrm>
            <a:off x="3629160" y="1155600"/>
            <a:ext cx="2255760" cy="58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</a:pPr>
            <a:r>
              <a:rPr b="1" lang="pt-BR" sz="3600" strike="noStrike" u="none">
                <a:solidFill>
                  <a:srgbClr val="ffffff"/>
                </a:solidFill>
                <a:effectLst/>
                <a:uFillTx/>
                <a:latin typeface="Sul Sans"/>
                <a:ea typeface="Open Sans"/>
              </a:rPr>
              <a:t>50.6k </a:t>
            </a:r>
            <a:r>
              <a:rPr b="0" lang="pt-BR" sz="1800" strike="noStrike" u="none">
                <a:solidFill>
                  <a:srgbClr val="ffffff"/>
                </a:solidFill>
                <a:effectLst/>
                <a:uFillTx/>
                <a:latin typeface="Sul Sans"/>
                <a:ea typeface="Open Sans"/>
              </a:rPr>
              <a:t>offers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196"/>
          <p:cNvSpPr/>
          <p:nvPr/>
        </p:nvSpPr>
        <p:spPr>
          <a:xfrm>
            <a:off x="432360" y="414720"/>
            <a:ext cx="2070720" cy="58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</a:pPr>
            <a:r>
              <a:rPr b="1" lang="pt-BR" sz="3600" strike="noStrike" u="none">
                <a:solidFill>
                  <a:srgbClr val="ffffff"/>
                </a:solidFill>
                <a:effectLst/>
                <a:uFillTx/>
                <a:latin typeface="Sul Sans"/>
                <a:ea typeface="Open Sans"/>
              </a:rPr>
              <a:t>Before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Seta: para a Direita 3"/>
          <p:cNvSpPr/>
          <p:nvPr/>
        </p:nvSpPr>
        <p:spPr>
          <a:xfrm>
            <a:off x="5736600" y="1509840"/>
            <a:ext cx="427680" cy="183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>
            <a:solidFill>
              <a:srgbClr val="000000"/>
            </a:solidFill>
            <a:round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1" lang="pt-BR" sz="1400" strike="noStrike" u="none">
              <a:solidFill>
                <a:schemeClr val="accent2">
                  <a:lumMod val="40000"/>
                  <a:lumOff val="60000"/>
                </a:schemeClr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36" name="Shape 196"/>
          <p:cNvSpPr/>
          <p:nvPr/>
        </p:nvSpPr>
        <p:spPr>
          <a:xfrm>
            <a:off x="6293160" y="1155600"/>
            <a:ext cx="2127960" cy="70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</a:pPr>
            <a:r>
              <a:rPr b="1" lang="pt-BR" sz="3600" strike="noStrike" u="none">
                <a:solidFill>
                  <a:srgbClr val="ffffff"/>
                </a:solidFill>
                <a:effectLst/>
                <a:uFillTx/>
                <a:latin typeface="Sul Sans"/>
                <a:ea typeface="Open Sans"/>
              </a:rPr>
              <a:t>41.5k </a:t>
            </a:r>
            <a:r>
              <a:rPr b="0" lang="pt-BR" sz="1800" strike="noStrike" u="none">
                <a:solidFill>
                  <a:srgbClr val="ffffff"/>
                </a:solidFill>
                <a:effectLst/>
                <a:uFillTx/>
                <a:latin typeface="Sul Sans"/>
                <a:ea typeface="Open Sans"/>
              </a:rPr>
              <a:t>used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196"/>
          <p:cNvSpPr/>
          <p:nvPr/>
        </p:nvSpPr>
        <p:spPr>
          <a:xfrm>
            <a:off x="4555800" y="2176200"/>
            <a:ext cx="2911320" cy="70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</a:pPr>
            <a:r>
              <a:rPr b="1" lang="pt-BR" sz="3600" strike="noStrike" u="none">
                <a:solidFill>
                  <a:srgbClr val="ffffff"/>
                </a:solidFill>
                <a:effectLst/>
                <a:uFillTx/>
                <a:latin typeface="Sul Sans"/>
                <a:ea typeface="Open Sans"/>
              </a:rPr>
              <a:t>82% </a:t>
            </a:r>
            <a:r>
              <a:rPr b="0" lang="pt-BR" sz="1800" strike="noStrike" u="none">
                <a:solidFill>
                  <a:srgbClr val="ffffff"/>
                </a:solidFill>
                <a:effectLst/>
                <a:uFillTx/>
                <a:latin typeface="Sul Sans"/>
                <a:ea typeface="Open Sans"/>
              </a:rPr>
              <a:t>conversion rate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196"/>
          <p:cNvSpPr/>
          <p:nvPr/>
        </p:nvSpPr>
        <p:spPr>
          <a:xfrm>
            <a:off x="432360" y="1906200"/>
            <a:ext cx="2596680" cy="58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</a:pPr>
            <a:r>
              <a:rPr b="1" lang="pt-BR" sz="2000" strike="noStrike" u="none">
                <a:solidFill>
                  <a:srgbClr val="ffffff"/>
                </a:solidFill>
                <a:effectLst/>
                <a:uFillTx/>
                <a:latin typeface="Sul Sans"/>
                <a:ea typeface="Open Sans"/>
              </a:rPr>
              <a:t>EDA Data: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196"/>
          <p:cNvSpPr/>
          <p:nvPr/>
        </p:nvSpPr>
        <p:spPr>
          <a:xfrm>
            <a:off x="3629160" y="3449160"/>
            <a:ext cx="2255760" cy="58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</a:pPr>
            <a:r>
              <a:rPr b="1" lang="pt-BR" sz="3600" strike="noStrike" u="none">
                <a:solidFill>
                  <a:srgbClr val="ffffff"/>
                </a:solidFill>
                <a:effectLst/>
                <a:uFillTx/>
                <a:latin typeface="Sul Sans"/>
                <a:ea typeface="Open Sans"/>
              </a:rPr>
              <a:t>12.6k </a:t>
            </a:r>
            <a:r>
              <a:rPr b="0" lang="pt-BR" sz="1800" strike="noStrike" u="none">
                <a:solidFill>
                  <a:srgbClr val="ffffff"/>
                </a:solidFill>
                <a:effectLst/>
                <a:uFillTx/>
                <a:latin typeface="Sul Sans"/>
                <a:ea typeface="Open Sans"/>
              </a:rPr>
              <a:t>offers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Seta: para a Direita 11"/>
          <p:cNvSpPr/>
          <p:nvPr/>
        </p:nvSpPr>
        <p:spPr>
          <a:xfrm>
            <a:off x="5773320" y="3803400"/>
            <a:ext cx="427680" cy="183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>
            <a:solidFill>
              <a:srgbClr val="000000"/>
            </a:solidFill>
            <a:round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1" lang="pt-BR" sz="1400" strike="noStrike" u="none">
              <a:solidFill>
                <a:schemeClr val="accent2">
                  <a:lumMod val="40000"/>
                  <a:lumOff val="60000"/>
                </a:schemeClr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41" name="Shape 196"/>
          <p:cNvSpPr/>
          <p:nvPr/>
        </p:nvSpPr>
        <p:spPr>
          <a:xfrm>
            <a:off x="6330240" y="3449160"/>
            <a:ext cx="2127960" cy="70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</a:pPr>
            <a:r>
              <a:rPr b="1" lang="pt-BR" sz="3600" strike="noStrike" u="none">
                <a:solidFill>
                  <a:srgbClr val="ffffff"/>
                </a:solidFill>
                <a:effectLst/>
                <a:uFillTx/>
                <a:latin typeface="Sul Sans"/>
                <a:ea typeface="Open Sans"/>
              </a:rPr>
              <a:t>10.3k </a:t>
            </a:r>
            <a:r>
              <a:rPr b="0" lang="pt-BR" sz="1800" strike="noStrike" u="none">
                <a:solidFill>
                  <a:srgbClr val="ffffff"/>
                </a:solidFill>
                <a:effectLst/>
                <a:uFillTx/>
                <a:latin typeface="Sul Sans"/>
                <a:ea typeface="Open Sans"/>
              </a:rPr>
              <a:t>used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196"/>
          <p:cNvSpPr/>
          <p:nvPr/>
        </p:nvSpPr>
        <p:spPr>
          <a:xfrm>
            <a:off x="4592520" y="4469760"/>
            <a:ext cx="2911320" cy="70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</a:pPr>
            <a:r>
              <a:rPr b="1" lang="pt-BR" sz="3600" strike="noStrike" u="none">
                <a:solidFill>
                  <a:srgbClr val="ffffff"/>
                </a:solidFill>
                <a:effectLst/>
                <a:uFillTx/>
                <a:latin typeface="Sul Sans"/>
                <a:ea typeface="Open Sans"/>
              </a:rPr>
              <a:t>81% </a:t>
            </a:r>
            <a:r>
              <a:rPr b="0" lang="pt-BR" sz="1800" strike="noStrike" u="none">
                <a:solidFill>
                  <a:srgbClr val="ffffff"/>
                </a:solidFill>
                <a:effectLst/>
                <a:uFillTx/>
                <a:latin typeface="Sul Sans"/>
                <a:ea typeface="Open Sans"/>
              </a:rPr>
              <a:t>conversion rate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196"/>
          <p:cNvSpPr/>
          <p:nvPr/>
        </p:nvSpPr>
        <p:spPr>
          <a:xfrm>
            <a:off x="492480" y="4037040"/>
            <a:ext cx="2596680" cy="58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</a:pPr>
            <a:r>
              <a:rPr b="1" lang="pt-BR" sz="1800" strike="noStrike" u="none">
                <a:solidFill>
                  <a:srgbClr val="ffffff"/>
                </a:solidFill>
                <a:effectLst/>
                <a:uFillTx/>
                <a:latin typeface="Sul Sans"/>
                <a:ea typeface="Open Sans"/>
              </a:rPr>
              <a:t>Evaluation Data: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44" name="Conector reto 16"/>
          <p:cNvCxnSpPr/>
          <p:nvPr/>
        </p:nvCxnSpPr>
        <p:spPr>
          <a:xfrm>
            <a:off x="571320" y="3090960"/>
            <a:ext cx="7888320" cy="5760"/>
          </a:xfrm>
          <a:prstGeom prst="straightConnector1">
            <a:avLst/>
          </a:prstGeom>
          <a:ln w="0">
            <a:solidFill>
              <a:srgbClr val="ffffff"/>
            </a:solidFill>
            <a:prstDash val="dash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9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nodeType="click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4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6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nodeType="click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1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23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nodeType="click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8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9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0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nodeType="click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5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6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7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nodeType="click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2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3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44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nodeType="click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9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0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51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nodeType="click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6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7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58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nodeType="click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3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4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65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196"/>
          <p:cNvSpPr/>
          <p:nvPr/>
        </p:nvSpPr>
        <p:spPr>
          <a:xfrm>
            <a:off x="432360" y="414720"/>
            <a:ext cx="5018400" cy="58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</a:pPr>
            <a:r>
              <a:rPr b="1" lang="pt-BR" sz="3600" strike="noStrike" u="none">
                <a:solidFill>
                  <a:srgbClr val="ffffff"/>
                </a:solidFill>
                <a:effectLst/>
                <a:uFillTx/>
                <a:latin typeface="Sul Sans"/>
                <a:ea typeface="Open Sans"/>
              </a:rPr>
              <a:t>Now: targeted users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196"/>
          <p:cNvSpPr/>
          <p:nvPr/>
        </p:nvSpPr>
        <p:spPr>
          <a:xfrm>
            <a:off x="3569040" y="1248480"/>
            <a:ext cx="2255760" cy="58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</a:pPr>
            <a:r>
              <a:rPr b="1" lang="pt-BR" sz="3600" strike="noStrike" u="none">
                <a:solidFill>
                  <a:srgbClr val="ffffff"/>
                </a:solidFill>
                <a:effectLst/>
                <a:uFillTx/>
                <a:latin typeface="Sul Sans"/>
                <a:ea typeface="Open Sans"/>
              </a:rPr>
              <a:t>7.4k </a:t>
            </a:r>
            <a:r>
              <a:rPr b="0" lang="pt-BR" sz="1800" strike="noStrike" u="none">
                <a:solidFill>
                  <a:srgbClr val="ffffff"/>
                </a:solidFill>
                <a:effectLst/>
                <a:uFillTx/>
                <a:latin typeface="Sul Sans"/>
                <a:ea typeface="Open Sans"/>
              </a:rPr>
              <a:t>offers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Seta: para a Direita 11"/>
          <p:cNvSpPr/>
          <p:nvPr/>
        </p:nvSpPr>
        <p:spPr>
          <a:xfrm>
            <a:off x="5713560" y="1602720"/>
            <a:ext cx="427680" cy="183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>
            <a:solidFill>
              <a:srgbClr val="000000"/>
            </a:solidFill>
            <a:round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1" lang="pt-BR" sz="1400" strike="noStrike" u="none">
              <a:solidFill>
                <a:schemeClr val="accent2">
                  <a:lumMod val="40000"/>
                  <a:lumOff val="60000"/>
                </a:schemeClr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48" name="Shape 196"/>
          <p:cNvSpPr/>
          <p:nvPr/>
        </p:nvSpPr>
        <p:spPr>
          <a:xfrm>
            <a:off x="6270120" y="1248480"/>
            <a:ext cx="2127960" cy="70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</a:pPr>
            <a:r>
              <a:rPr b="1" lang="pt-BR" sz="3600" strike="noStrike" u="none">
                <a:solidFill>
                  <a:srgbClr val="ffffff"/>
                </a:solidFill>
                <a:effectLst/>
                <a:uFillTx/>
                <a:latin typeface="Sul Sans"/>
                <a:ea typeface="Open Sans"/>
              </a:rPr>
              <a:t>6.8k </a:t>
            </a:r>
            <a:r>
              <a:rPr b="0" lang="pt-BR" sz="1800" strike="noStrike" u="none">
                <a:solidFill>
                  <a:srgbClr val="ffffff"/>
                </a:solidFill>
                <a:effectLst/>
                <a:uFillTx/>
                <a:latin typeface="Sul Sans"/>
                <a:ea typeface="Open Sans"/>
              </a:rPr>
              <a:t>used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196"/>
          <p:cNvSpPr/>
          <p:nvPr/>
        </p:nvSpPr>
        <p:spPr>
          <a:xfrm>
            <a:off x="4532400" y="2269080"/>
            <a:ext cx="3435120" cy="70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</a:pPr>
            <a:r>
              <a:rPr b="1" lang="pt-BR" sz="4800" strike="noStrike" u="none">
                <a:solidFill>
                  <a:srgbClr val="ffffff"/>
                </a:solidFill>
                <a:effectLst/>
                <a:uFillTx/>
                <a:latin typeface="Sul Sans"/>
                <a:ea typeface="Open Sans"/>
              </a:rPr>
              <a:t>92% </a:t>
            </a:r>
            <a:r>
              <a:rPr b="0" lang="pt-BR" sz="1800" strike="noStrike" u="none">
                <a:solidFill>
                  <a:srgbClr val="ffffff"/>
                </a:solidFill>
                <a:effectLst/>
                <a:uFillTx/>
                <a:latin typeface="Sul Sans"/>
                <a:ea typeface="Open Sans"/>
              </a:rPr>
              <a:t>conversion rate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196"/>
          <p:cNvSpPr/>
          <p:nvPr/>
        </p:nvSpPr>
        <p:spPr>
          <a:xfrm>
            <a:off x="432360" y="1836360"/>
            <a:ext cx="2596680" cy="58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</a:pPr>
            <a:r>
              <a:rPr b="1" lang="pt-BR" sz="1800" strike="noStrike" u="none">
                <a:solidFill>
                  <a:srgbClr val="ffffff"/>
                </a:solidFill>
                <a:effectLst/>
                <a:uFillTx/>
                <a:latin typeface="Sul Sans"/>
                <a:ea typeface="Open Sans"/>
              </a:rPr>
              <a:t>Evaluation Data: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51" name="Conector reto 16"/>
          <p:cNvCxnSpPr/>
          <p:nvPr/>
        </p:nvCxnSpPr>
        <p:spPr>
          <a:xfrm>
            <a:off x="571320" y="3241440"/>
            <a:ext cx="7888320" cy="6120"/>
          </a:xfrm>
          <a:prstGeom prst="straightConnector1">
            <a:avLst/>
          </a:prstGeom>
          <a:ln w="0">
            <a:solidFill>
              <a:srgbClr val="ffffff"/>
            </a:solidFill>
            <a:prstDash val="dash"/>
          </a:ln>
        </p:spPr>
      </p:cxnSp>
      <p:sp>
        <p:nvSpPr>
          <p:cNvPr id="152" name="Shape 196"/>
          <p:cNvSpPr/>
          <p:nvPr/>
        </p:nvSpPr>
        <p:spPr>
          <a:xfrm>
            <a:off x="2171160" y="1238040"/>
            <a:ext cx="1397160" cy="58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</a:pPr>
            <a:r>
              <a:rPr b="1" lang="pt-BR" sz="3600" strike="sngStrike" u="none">
                <a:solidFill>
                  <a:srgbClr val="ffffff"/>
                </a:solidFill>
                <a:effectLst/>
                <a:uFillTx/>
                <a:latin typeface="Sul Sans"/>
                <a:ea typeface="Open Sans"/>
              </a:rPr>
              <a:t>12.6k</a:t>
            </a:r>
            <a:r>
              <a:rPr b="1" lang="pt-BR" sz="3600" strike="noStrike" u="none">
                <a:solidFill>
                  <a:srgbClr val="ffffff"/>
                </a:solidFill>
                <a:effectLst/>
                <a:uFillTx/>
                <a:latin typeface="Sul Sans"/>
                <a:ea typeface="Open Sans"/>
              </a:rPr>
              <a:t>  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196"/>
          <p:cNvSpPr/>
          <p:nvPr/>
        </p:nvSpPr>
        <p:spPr>
          <a:xfrm>
            <a:off x="432360" y="3751200"/>
            <a:ext cx="2596680" cy="58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</a:pPr>
            <a:r>
              <a:rPr b="1" lang="pt-BR" sz="1800" strike="noStrike" u="none">
                <a:solidFill>
                  <a:srgbClr val="ffffff"/>
                </a:solidFill>
                <a:effectLst/>
                <a:uFillTx/>
                <a:latin typeface="Sul Sans"/>
                <a:ea typeface="Open Sans"/>
              </a:rPr>
              <a:t>Marketing cost: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CaixaDeTexto 18"/>
          <p:cNvSpPr/>
          <p:nvPr/>
        </p:nvSpPr>
        <p:spPr>
          <a:xfrm>
            <a:off x="2486880" y="3633480"/>
            <a:ext cx="3654000" cy="70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pt-BR" sz="4000" strike="noStrike" u="none">
                <a:solidFill>
                  <a:srgbClr val="e8ecf0"/>
                </a:solidFill>
                <a:effectLst/>
                <a:uFillTx/>
                <a:latin typeface="-apple-system"/>
                <a:ea typeface="Arial"/>
              </a:rPr>
              <a:t>R$522.00 saved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6" dur="indefinite" restart="never" nodeType="tmRoot">
          <p:childTnLst>
            <p:seq>
              <p:cTn id="67" dur="indefinite" nodeType="mainSeq">
                <p:childTnLst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nodeType="click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2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3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74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nodeType="click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9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0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81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nodeType="click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6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7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88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nodeType="click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93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4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95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nodeType="click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00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1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02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nodeType="click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07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8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09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nodeType="click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4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5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16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 196"/>
          <p:cNvSpPr/>
          <p:nvPr/>
        </p:nvSpPr>
        <p:spPr>
          <a:xfrm>
            <a:off x="432360" y="414720"/>
            <a:ext cx="5018400" cy="58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</a:pPr>
            <a:r>
              <a:rPr b="1" lang="pt-BR" sz="3600" strike="noStrike" u="none">
                <a:solidFill>
                  <a:srgbClr val="ffffff"/>
                </a:solidFill>
                <a:effectLst/>
                <a:uFillTx/>
                <a:latin typeface="Sul Sans"/>
                <a:ea typeface="Open Sans"/>
              </a:rPr>
              <a:t>Ifood has 50MM users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196"/>
          <p:cNvSpPr/>
          <p:nvPr/>
        </p:nvSpPr>
        <p:spPr>
          <a:xfrm>
            <a:off x="613080" y="2308320"/>
            <a:ext cx="2742120" cy="76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</a:pPr>
            <a:r>
              <a:rPr b="1" lang="pt-BR" sz="1800" strike="noStrike" u="none">
                <a:solidFill>
                  <a:srgbClr val="ffffff"/>
                </a:solidFill>
                <a:effectLst/>
                <a:uFillTx/>
                <a:latin typeface="Sul Sans"/>
                <a:ea typeface="Open Sans"/>
              </a:rPr>
              <a:t>Marketing campaign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800" strike="noStrike" u="none">
                <a:solidFill>
                  <a:srgbClr val="ffffff"/>
                </a:solidFill>
                <a:effectLst/>
                <a:uFillTx/>
                <a:latin typeface="Sul Sans"/>
                <a:ea typeface="Open Sans"/>
              </a:rPr>
              <a:t>        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800" strike="noStrike" u="none">
                <a:solidFill>
                  <a:srgbClr val="ffffff"/>
                </a:solidFill>
                <a:effectLst/>
                <a:uFillTx/>
                <a:latin typeface="Sul Sans"/>
                <a:ea typeface="Open Sans"/>
              </a:rPr>
              <a:t>     </a:t>
            </a:r>
            <a:r>
              <a:rPr b="1" lang="pt-BR" sz="2400" strike="noStrike" u="none">
                <a:solidFill>
                  <a:srgbClr val="ffffff"/>
                </a:solidFill>
                <a:effectLst/>
                <a:uFillTx/>
                <a:latin typeface="Sul Sans"/>
                <a:ea typeface="Open Sans"/>
              </a:rPr>
              <a:t>1MM users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Chave Esquerda 1"/>
          <p:cNvSpPr/>
          <p:nvPr/>
        </p:nvSpPr>
        <p:spPr>
          <a:xfrm>
            <a:off x="3104640" y="1894680"/>
            <a:ext cx="362160" cy="1571400"/>
          </a:xfrm>
          <a:prstGeom prst="leftBrace">
            <a:avLst>
              <a:gd name="adj1" fmla="val 8333"/>
              <a:gd name="adj2" fmla="val 50000"/>
            </a:avLst>
          </a:prstGeom>
          <a:noFill/>
          <a:ln w="28575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4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58" name="CaixaDeTexto 4"/>
          <p:cNvSpPr/>
          <p:nvPr/>
        </p:nvSpPr>
        <p:spPr>
          <a:xfrm>
            <a:off x="3521880" y="1894680"/>
            <a:ext cx="5169240" cy="58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400" strike="noStrike" u="none">
                <a:solidFill>
                  <a:srgbClr val="e8ecf0"/>
                </a:solidFill>
                <a:effectLst/>
                <a:uFillTx/>
                <a:latin typeface="-apple-system"/>
                <a:ea typeface="Arial"/>
              </a:rPr>
              <a:t> </a:t>
            </a:r>
            <a:r>
              <a:rPr b="1" lang="pt-BR" sz="3200" strike="noStrike" u="none">
                <a:solidFill>
                  <a:schemeClr val="dk1"/>
                </a:solidFill>
                <a:effectLst/>
                <a:uFillTx/>
                <a:latin typeface="-apple-system"/>
                <a:ea typeface="Arial"/>
              </a:rPr>
              <a:t>414,678</a:t>
            </a:r>
            <a:r>
              <a:rPr b="1" lang="pt-BR" sz="1400" strike="noStrike" u="none">
                <a:solidFill>
                  <a:srgbClr val="e8ecf0"/>
                </a:solidFill>
                <a:effectLst/>
                <a:uFillTx/>
                <a:latin typeface="-apple-system"/>
                <a:ea typeface="Arial"/>
              </a:rPr>
              <a:t>  saved marketing messages (SMS or E-mail)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CaixaDeTexto 6"/>
          <p:cNvSpPr/>
          <p:nvPr/>
        </p:nvSpPr>
        <p:spPr>
          <a:xfrm>
            <a:off x="3561840" y="2963520"/>
            <a:ext cx="5400720" cy="5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pt-BR" sz="1400" strike="noStrike" u="none">
                <a:solidFill>
                  <a:srgbClr val="e8ecf0"/>
                </a:solidFill>
                <a:effectLst/>
                <a:uFillTx/>
                <a:latin typeface="-apple-system"/>
                <a:ea typeface="Arial"/>
              </a:rPr>
              <a:t>414,678 x R$0.1 + 414,678 x R$0.004 = </a:t>
            </a:r>
            <a:r>
              <a:rPr b="1" lang="pt-BR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 </a:t>
            </a:r>
            <a:r>
              <a:rPr b="1" lang="pt-BR" sz="2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R$43,126.0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CaixaDeTexto 9"/>
          <p:cNvSpPr/>
          <p:nvPr/>
        </p:nvSpPr>
        <p:spPr>
          <a:xfrm>
            <a:off x="7202160" y="3466800"/>
            <a:ext cx="7066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pt-BR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saved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7" dur="indefinite" restart="never" nodeType="tmRoot">
          <p:childTnLst>
            <p:seq>
              <p:cTn id="118" dur="indefinite" nodeType="mainSeq">
                <p:childTnLst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nodeType="click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23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4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25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nodeType="click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0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1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32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96"/>
          <p:cNvSpPr/>
          <p:nvPr/>
        </p:nvSpPr>
        <p:spPr>
          <a:xfrm>
            <a:off x="432360" y="414720"/>
            <a:ext cx="5018400" cy="58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</a:pPr>
            <a:r>
              <a:rPr b="1" lang="pt-BR" sz="3600" strike="noStrike" u="none">
                <a:solidFill>
                  <a:srgbClr val="ffffff"/>
                </a:solidFill>
                <a:effectLst/>
                <a:uFillTx/>
                <a:latin typeface="Sul Sans"/>
                <a:ea typeface="Open Sans"/>
              </a:rPr>
              <a:t>Now: targeted offers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196"/>
          <p:cNvSpPr/>
          <p:nvPr/>
        </p:nvSpPr>
        <p:spPr>
          <a:xfrm>
            <a:off x="432360" y="1836360"/>
            <a:ext cx="2596680" cy="58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</a:pPr>
            <a:r>
              <a:rPr b="1" lang="pt-BR" sz="1800" strike="noStrike" u="none">
                <a:solidFill>
                  <a:srgbClr val="ffffff"/>
                </a:solidFill>
                <a:effectLst/>
                <a:uFillTx/>
                <a:latin typeface="Sul Sans"/>
                <a:ea typeface="Open Sans"/>
              </a:rPr>
              <a:t>Evaluation Data: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196"/>
          <p:cNvSpPr/>
          <p:nvPr/>
        </p:nvSpPr>
        <p:spPr>
          <a:xfrm>
            <a:off x="2229480" y="1670400"/>
            <a:ext cx="1397160" cy="58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</a:pPr>
            <a:r>
              <a:rPr b="1" lang="pt-BR" sz="3600" strike="noStrike" u="none">
                <a:solidFill>
                  <a:schemeClr val="lt1"/>
                </a:solidFill>
                <a:effectLst/>
                <a:uFillTx/>
                <a:latin typeface="Sul Sans"/>
                <a:ea typeface="Open Sans"/>
              </a:rPr>
              <a:t>12.6k  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196"/>
          <p:cNvSpPr/>
          <p:nvPr/>
        </p:nvSpPr>
        <p:spPr>
          <a:xfrm>
            <a:off x="1514160" y="3243960"/>
            <a:ext cx="3277080" cy="58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</a:pPr>
            <a:r>
              <a:rPr b="1" lang="pt-BR" sz="1800" strike="noStrike" u="none">
                <a:solidFill>
                  <a:srgbClr val="ffffff"/>
                </a:solidFill>
                <a:effectLst/>
                <a:uFillTx/>
                <a:latin typeface="Sul Sans"/>
                <a:ea typeface="Open Sans"/>
              </a:rPr>
              <a:t>Randomly selected offers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Seta: para a Direita 5"/>
          <p:cNvSpPr/>
          <p:nvPr/>
        </p:nvSpPr>
        <p:spPr>
          <a:xfrm>
            <a:off x="4649760" y="3406320"/>
            <a:ext cx="427680" cy="183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>
            <a:solidFill>
              <a:srgbClr val="000000"/>
            </a:solidFill>
            <a:round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1" lang="pt-BR" sz="1400" strike="noStrike" u="none">
              <a:solidFill>
                <a:schemeClr val="accent2">
                  <a:lumMod val="40000"/>
                  <a:lumOff val="60000"/>
                </a:schemeClr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66" name="Shape 196"/>
          <p:cNvSpPr/>
          <p:nvPr/>
        </p:nvSpPr>
        <p:spPr>
          <a:xfrm>
            <a:off x="5078160" y="1965600"/>
            <a:ext cx="3435120" cy="70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</a:pPr>
            <a:r>
              <a:rPr b="1" lang="pt-BR" sz="4800" strike="noStrike" u="none">
                <a:solidFill>
                  <a:srgbClr val="ffffff"/>
                </a:solidFill>
                <a:effectLst/>
                <a:uFillTx/>
                <a:latin typeface="Sul Sans"/>
                <a:ea typeface="Open Sans"/>
              </a:rPr>
              <a:t>92% </a:t>
            </a:r>
            <a:r>
              <a:rPr b="0" lang="pt-BR" sz="1800" strike="noStrike" u="none">
                <a:solidFill>
                  <a:srgbClr val="ffffff"/>
                </a:solidFill>
                <a:effectLst/>
                <a:uFillTx/>
                <a:latin typeface="Sul Sans"/>
                <a:ea typeface="Open Sans"/>
              </a:rPr>
              <a:t>conversion rate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7" name="Picture 2" descr="market crash Icon - Free PNG &amp; SVG 2534514 - Noun Project"/>
          <p:cNvPicPr/>
          <p:nvPr/>
        </p:nvPicPr>
        <p:blipFill>
          <a:blip r:embed="rId1"/>
          <a:stretch/>
        </p:blipFill>
        <p:spPr>
          <a:xfrm>
            <a:off x="5929200" y="2571840"/>
            <a:ext cx="1362960" cy="136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8" name="Shape 196"/>
          <p:cNvSpPr/>
          <p:nvPr/>
        </p:nvSpPr>
        <p:spPr>
          <a:xfrm>
            <a:off x="6790680" y="3634920"/>
            <a:ext cx="2081520" cy="70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</a:pPr>
            <a:r>
              <a:rPr b="1" lang="pt-BR" sz="4800" strike="noStrike" u="none">
                <a:solidFill>
                  <a:srgbClr val="ffffff"/>
                </a:solidFill>
                <a:effectLst/>
                <a:uFillTx/>
                <a:latin typeface="Sul Sans"/>
                <a:ea typeface="Open Sans"/>
              </a:rPr>
              <a:t>67.1%</a:t>
            </a:r>
            <a:endParaRPr b="0" lang="en-US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CaixaDeTexto 17"/>
          <p:cNvSpPr/>
          <p:nvPr/>
        </p:nvSpPr>
        <p:spPr>
          <a:xfrm>
            <a:off x="6611040" y="2935800"/>
            <a:ext cx="1055160" cy="24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000" strike="noStrike" u="none">
                <a:solidFill>
                  <a:schemeClr val="dk1"/>
                </a:solidFill>
                <a:effectLst/>
                <a:uFillTx/>
                <a:latin typeface="Sul Sans"/>
                <a:ea typeface="Open Sans"/>
              </a:rPr>
              <a:t>Projection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33" dur="indefinite" restart="never" nodeType="tmRoot">
          <p:childTnLst>
            <p:seq>
              <p:cTn id="134" dur="indefinite" nodeType="mainSeq">
                <p:childTnLst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nodeType="click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9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0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41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nodeType="click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46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7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48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nodeType="click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53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4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55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nodeType="click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60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1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62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nodeType="click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67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8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69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nodeType="click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74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5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76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a1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80;p52" descr=""/>
          <p:cNvPicPr/>
          <p:nvPr/>
        </p:nvPicPr>
        <p:blipFill>
          <a:blip r:embed="rId1"/>
          <a:stretch/>
        </p:blipFill>
        <p:spPr>
          <a:xfrm>
            <a:off x="2875680" y="1445040"/>
            <a:ext cx="3391560" cy="36979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71" name="Google Shape;181;p52"/>
          <p:cNvCxnSpPr/>
          <p:nvPr/>
        </p:nvCxnSpPr>
        <p:spPr>
          <a:xfrm>
            <a:off x="-7560" y="5126760"/>
            <a:ext cx="9159840" cy="720"/>
          </a:xfrm>
          <a:prstGeom prst="straightConnector1">
            <a:avLst/>
          </a:prstGeom>
          <a:ln w="63500">
            <a:solidFill>
              <a:srgbClr val="ffffff"/>
            </a:solidFill>
            <a:round/>
          </a:ln>
        </p:spPr>
      </p:cxnSp>
      <p:sp>
        <p:nvSpPr>
          <p:cNvPr id="172" name="Google Shape;2027;p298"/>
          <p:cNvSpPr/>
          <p:nvPr/>
        </p:nvSpPr>
        <p:spPr>
          <a:xfrm>
            <a:off x="465840" y="497160"/>
            <a:ext cx="7260480" cy="162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280" rIns="17280" tIns="17280" bIns="1728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6000" strike="noStrike" u="none"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</a:rPr>
              <a:t>Exploratory Data </a:t>
            </a:r>
            <a:r>
              <a:rPr b="1" lang="pt-BR" sz="6000" strike="noStrike" u="sng"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</a:rPr>
              <a:t>Analysis</a:t>
            </a:r>
            <a:endParaRPr b="0" lang="en-US" sz="6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3" name="Imagem 3" descr="Ícone&#10;&#10;O conteúdo gerado por IA pode estar incorreto."/>
          <p:cNvPicPr/>
          <p:nvPr/>
        </p:nvPicPr>
        <p:blipFill>
          <a:blip r:embed="rId2"/>
          <a:stretch/>
        </p:blipFill>
        <p:spPr>
          <a:xfrm>
            <a:off x="7106400" y="442080"/>
            <a:ext cx="1206360" cy="1206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203"/>
          <p:cNvSpPr/>
          <p:nvPr/>
        </p:nvSpPr>
        <p:spPr>
          <a:xfrm>
            <a:off x="2010600" y="1556280"/>
            <a:ext cx="5524920" cy="9226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algn="ctr" defTabSz="2438280">
              <a:lnSpc>
                <a:spcPct val="100000"/>
              </a:lnSpc>
            </a:pPr>
            <a:r>
              <a:rPr b="1" lang="pt-BR" sz="2400" strike="noStrike" u="none">
                <a:solidFill>
                  <a:srgbClr val="e4002b"/>
                </a:solidFill>
                <a:effectLst/>
                <a:uFillTx/>
                <a:latin typeface="Helvetica Neue"/>
                <a:ea typeface="Arial"/>
              </a:rPr>
              <a:t>Probably the Data were Generated Sintetically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5" name="Shape 204" descr="Shape 204"/>
          <p:cNvPicPr/>
          <p:nvPr/>
        </p:nvPicPr>
        <p:blipFill>
          <a:blip r:embed="rId1"/>
          <a:srcRect l="325" t="0" r="325" b="0"/>
          <a:stretch/>
        </p:blipFill>
        <p:spPr>
          <a:xfrm>
            <a:off x="8203320" y="4584960"/>
            <a:ext cx="652680" cy="35424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176" name="CaixaDeTexto 1"/>
          <p:cNvSpPr/>
          <p:nvPr/>
        </p:nvSpPr>
        <p:spPr>
          <a:xfrm>
            <a:off x="1717560" y="2421720"/>
            <a:ext cx="5707800" cy="93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OpenSymbol"/>
              <a:buChar char="-"/>
            </a:pPr>
            <a:r>
              <a:rPr b="0" lang="pt-BR" sz="135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Some data are inconsistente or wierd. There are offers that are completed with </a:t>
            </a:r>
            <a:r>
              <a:rPr b="0" lang="pt-BR" sz="1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time_since_test_start</a:t>
            </a:r>
            <a:r>
              <a:rPr b="0" lang="pt-BR" sz="135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= 0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OpenSymbol"/>
              <a:buChar char="-"/>
            </a:pPr>
            <a:r>
              <a:rPr b="0" lang="pt-BR" sz="135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Ages of 120 Years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OpenSymbol"/>
              <a:buChar char="-"/>
            </a:pPr>
            <a:r>
              <a:rPr b="0" lang="pt-BR" sz="135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Credit card with mean limit value of 60,000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p14:dur="10"/>
    </mc:Choice>
    <mc:Fallback>
      <p:transition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hape 203"/>
          <p:cNvSpPr/>
          <p:nvPr/>
        </p:nvSpPr>
        <p:spPr>
          <a:xfrm>
            <a:off x="272160" y="234360"/>
            <a:ext cx="6811920" cy="5648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defTabSz="2438280">
              <a:lnSpc>
                <a:spcPct val="100000"/>
              </a:lnSpc>
            </a:pPr>
            <a:r>
              <a:rPr b="1" lang="pt-BR" sz="2470" strike="noStrike" u="none">
                <a:solidFill>
                  <a:srgbClr val="e4002b"/>
                </a:solidFill>
                <a:effectLst/>
                <a:uFillTx/>
                <a:latin typeface="Helvetica Neue"/>
                <a:ea typeface="Arial"/>
              </a:rPr>
              <a:t>User profile – without offer</a:t>
            </a:r>
            <a:endParaRPr b="0" lang="en-US" sz="24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8" name="Shape 204" descr="Shape 204"/>
          <p:cNvPicPr/>
          <p:nvPr/>
        </p:nvPicPr>
        <p:blipFill>
          <a:blip r:embed="rId1"/>
          <a:srcRect l="325" t="0" r="325" b="0"/>
          <a:stretch/>
        </p:blipFill>
        <p:spPr>
          <a:xfrm>
            <a:off x="8203320" y="4584960"/>
            <a:ext cx="652680" cy="354240"/>
          </a:xfrm>
          <a:prstGeom prst="rect">
            <a:avLst/>
          </a:prstGeom>
          <a:noFill/>
          <a:ln w="12700">
            <a:noFill/>
          </a:ln>
        </p:spPr>
      </p:pic>
      <p:cxnSp>
        <p:nvCxnSpPr>
          <p:cNvPr id="179" name="Conector reto 2"/>
          <p:cNvCxnSpPr/>
          <p:nvPr/>
        </p:nvCxnSpPr>
        <p:spPr>
          <a:xfrm>
            <a:off x="1217160" y="2812680"/>
            <a:ext cx="6600960" cy="72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cxnSp>
        <p:nvCxnSpPr>
          <p:cNvPr id="180" name="Conector reto 6"/>
          <p:cNvCxnSpPr/>
          <p:nvPr/>
        </p:nvCxnSpPr>
        <p:spPr>
          <a:xfrm>
            <a:off x="6152040" y="2375280"/>
            <a:ext cx="720" cy="860760"/>
          </a:xfrm>
          <a:prstGeom prst="straightConnector1">
            <a:avLst/>
          </a:prstGeom>
          <a:ln w="19050">
            <a:solidFill>
              <a:srgbClr val="ff644e"/>
            </a:solidFill>
            <a:prstDash val="dash"/>
            <a:round/>
          </a:ln>
        </p:spPr>
      </p:cxnSp>
      <p:sp>
        <p:nvSpPr>
          <p:cNvPr id="181" name="Shape 202"/>
          <p:cNvSpPr/>
          <p:nvPr/>
        </p:nvSpPr>
        <p:spPr>
          <a:xfrm>
            <a:off x="5794560" y="2125080"/>
            <a:ext cx="714600" cy="2048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2438280">
              <a:lnSpc>
                <a:spcPct val="115000"/>
              </a:lnSpc>
            </a:pPr>
            <a:r>
              <a:rPr b="0" lang="pt-BR" sz="7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Offer received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Chave Esquerda 10"/>
          <p:cNvSpPr/>
          <p:nvPr/>
        </p:nvSpPr>
        <p:spPr>
          <a:xfrm rot="16200000">
            <a:off x="4867200" y="1996560"/>
            <a:ext cx="185040" cy="2232720"/>
          </a:xfrm>
          <a:prstGeom prst="leftBrace">
            <a:avLst>
              <a:gd name="adj1" fmla="val 0"/>
              <a:gd name="adj2" fmla="val 50000"/>
            </a:avLst>
          </a:prstGeom>
          <a:noFill/>
          <a:ln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4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cxnSp>
        <p:nvCxnSpPr>
          <p:cNvPr id="183" name="Conector reto 11"/>
          <p:cNvCxnSpPr/>
          <p:nvPr/>
        </p:nvCxnSpPr>
        <p:spPr>
          <a:xfrm>
            <a:off x="3775320" y="2420280"/>
            <a:ext cx="720" cy="860760"/>
          </a:xfrm>
          <a:prstGeom prst="straightConnector1">
            <a:avLst/>
          </a:prstGeom>
          <a:ln w="19050">
            <a:solidFill>
              <a:srgbClr val="00a2ff"/>
            </a:solidFill>
            <a:prstDash val="dash"/>
            <a:round/>
          </a:ln>
        </p:spPr>
      </p:cxnSp>
      <p:sp>
        <p:nvSpPr>
          <p:cNvPr id="184" name="Shape 202"/>
          <p:cNvSpPr/>
          <p:nvPr/>
        </p:nvSpPr>
        <p:spPr>
          <a:xfrm>
            <a:off x="3417840" y="2169720"/>
            <a:ext cx="867240" cy="2048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2438280">
              <a:lnSpc>
                <a:spcPct val="115000"/>
              </a:lnSpc>
            </a:pPr>
            <a:r>
              <a:rPr b="0" lang="pt-BR" sz="7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Offer received - 30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202"/>
          <p:cNvSpPr/>
          <p:nvPr/>
        </p:nvSpPr>
        <p:spPr>
          <a:xfrm>
            <a:off x="4695120" y="3235680"/>
            <a:ext cx="1056960" cy="2048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2438280">
              <a:lnSpc>
                <a:spcPct val="115000"/>
              </a:lnSpc>
            </a:pPr>
            <a:r>
              <a:rPr b="0" lang="pt-BR" sz="7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Propense :Class = 1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6" name="Picture 2" descr="Imagens de Hatch Lines – Explore Fotografias do Stock ..."/>
          <p:cNvPicPr/>
          <p:nvPr/>
        </p:nvPicPr>
        <p:blipFill>
          <a:blip r:embed="rId2"/>
          <a:stretch/>
        </p:blipFill>
        <p:spPr>
          <a:xfrm>
            <a:off x="3850560" y="2530440"/>
            <a:ext cx="2232720" cy="54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7" name="Chave Esquerda 14"/>
          <p:cNvSpPr/>
          <p:nvPr/>
        </p:nvSpPr>
        <p:spPr>
          <a:xfrm rot="16200000">
            <a:off x="3614400" y="1166760"/>
            <a:ext cx="140400" cy="4934160"/>
          </a:xfrm>
          <a:prstGeom prst="leftBrace">
            <a:avLst>
              <a:gd name="adj1" fmla="val 0"/>
              <a:gd name="adj2" fmla="val 50000"/>
            </a:avLst>
          </a:prstGeom>
          <a:noFill/>
          <a:ln w="19050">
            <a:solidFill>
              <a:srgbClr val="ff644e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400" strike="noStrike" u="none">
              <a:solidFill>
                <a:schemeClr val="accent5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88" name="Shape 202"/>
          <p:cNvSpPr/>
          <p:nvPr/>
        </p:nvSpPr>
        <p:spPr>
          <a:xfrm>
            <a:off x="3170160" y="3723120"/>
            <a:ext cx="1524240" cy="2048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2438280">
              <a:lnSpc>
                <a:spcPct val="115000"/>
              </a:lnSpc>
            </a:pPr>
            <a:r>
              <a:rPr b="0" lang="pt-BR" sz="7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Never transacted :Class = 0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202"/>
          <p:cNvSpPr/>
          <p:nvPr/>
        </p:nvSpPr>
        <p:spPr>
          <a:xfrm>
            <a:off x="272160" y="968760"/>
            <a:ext cx="2440080" cy="3164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2438280">
              <a:lnSpc>
                <a:spcPct val="115000"/>
              </a:lnSpc>
            </a:pPr>
            <a:r>
              <a:rPr b="0" lang="pt-BR" sz="1390" strike="noStrike" u="non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“Propense” user definition</a:t>
            </a:r>
            <a:endParaRPr b="0" lang="en-US" sz="13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p14:dur="10"/>
    </mc:Choice>
    <mc:Fallback>
      <p:transition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202"/>
          <p:cNvSpPr/>
          <p:nvPr/>
        </p:nvSpPr>
        <p:spPr>
          <a:xfrm>
            <a:off x="312480" y="1023120"/>
            <a:ext cx="6444360" cy="3164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2438280">
              <a:lnSpc>
                <a:spcPct val="115000"/>
              </a:lnSpc>
            </a:pPr>
            <a:r>
              <a:rPr b="0" lang="pt-BR" sz="1390" strike="noStrike" u="non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Credit Limit and Conversion: mid class uses the application more frequently</a:t>
            </a:r>
            <a:endParaRPr b="0" lang="en-US" sz="13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1" name="Shape 204" descr="Shape 204"/>
          <p:cNvPicPr/>
          <p:nvPr/>
        </p:nvPicPr>
        <p:blipFill>
          <a:blip r:embed="rId1"/>
          <a:srcRect l="325" t="0" r="325" b="0"/>
          <a:stretch/>
        </p:blipFill>
        <p:spPr>
          <a:xfrm>
            <a:off x="8203320" y="4584960"/>
            <a:ext cx="652680" cy="354240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192" name="Imagem 4" descr="Gráfico, Histograma&#10;&#10;O conteúdo gerado por IA pode estar incorreto."/>
          <p:cNvPicPr/>
          <p:nvPr/>
        </p:nvPicPr>
        <p:blipFill>
          <a:blip r:embed="rId2"/>
          <a:stretch/>
        </p:blipFill>
        <p:spPr>
          <a:xfrm>
            <a:off x="2233080" y="1522440"/>
            <a:ext cx="4347000" cy="295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3" name="Shape 203"/>
          <p:cNvSpPr/>
          <p:nvPr/>
        </p:nvSpPr>
        <p:spPr>
          <a:xfrm>
            <a:off x="272160" y="234360"/>
            <a:ext cx="6811920" cy="5648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defTabSz="2438280">
              <a:lnSpc>
                <a:spcPct val="100000"/>
              </a:lnSpc>
            </a:pPr>
            <a:r>
              <a:rPr b="1" lang="pt-BR" sz="2470" strike="noStrike" u="none">
                <a:solidFill>
                  <a:srgbClr val="e4002b"/>
                </a:solidFill>
                <a:effectLst/>
                <a:uFillTx/>
                <a:latin typeface="Helvetica Neue"/>
                <a:ea typeface="Arial"/>
              </a:rPr>
              <a:t>User profile – without offer</a:t>
            </a:r>
            <a:endParaRPr b="0" lang="en-US" sz="24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p14:dur="10"/>
    </mc:Choice>
    <mc:Fallback>
      <p:transition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202"/>
          <p:cNvSpPr/>
          <p:nvPr/>
        </p:nvSpPr>
        <p:spPr>
          <a:xfrm>
            <a:off x="312480" y="1023120"/>
            <a:ext cx="4947120" cy="3164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2438280">
              <a:lnSpc>
                <a:spcPct val="115000"/>
              </a:lnSpc>
            </a:pPr>
            <a:r>
              <a:rPr b="0" lang="pt-BR" sz="1390" strike="noStrike" u="non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Age and Conversion: youngers transact more</a:t>
            </a:r>
            <a:endParaRPr b="0" lang="en-US" sz="13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5" name="Shape 204" descr="Shape 204"/>
          <p:cNvPicPr/>
          <p:nvPr/>
        </p:nvPicPr>
        <p:blipFill>
          <a:blip r:embed="rId1"/>
          <a:srcRect l="325" t="0" r="325" b="0"/>
          <a:stretch/>
        </p:blipFill>
        <p:spPr>
          <a:xfrm>
            <a:off x="8203320" y="4584960"/>
            <a:ext cx="652680" cy="354240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196" name="Imagem 6" descr="Gráfico, Histograma&#10;&#10;O conteúdo gerado por IA pode estar incorreto."/>
          <p:cNvPicPr/>
          <p:nvPr/>
        </p:nvPicPr>
        <p:blipFill>
          <a:blip r:embed="rId2"/>
          <a:stretch/>
        </p:blipFill>
        <p:spPr>
          <a:xfrm>
            <a:off x="2185560" y="1616400"/>
            <a:ext cx="4420440" cy="296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7" name="Shape 203"/>
          <p:cNvSpPr/>
          <p:nvPr/>
        </p:nvSpPr>
        <p:spPr>
          <a:xfrm>
            <a:off x="272160" y="234360"/>
            <a:ext cx="6811920" cy="5648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defTabSz="2438280">
              <a:lnSpc>
                <a:spcPct val="100000"/>
              </a:lnSpc>
            </a:pPr>
            <a:r>
              <a:rPr b="1" lang="pt-BR" sz="2470" strike="noStrike" u="none">
                <a:solidFill>
                  <a:srgbClr val="e4002b"/>
                </a:solidFill>
                <a:effectLst/>
                <a:uFillTx/>
                <a:latin typeface="Helvetica Neue"/>
                <a:ea typeface="Arial"/>
              </a:rPr>
              <a:t>User profile – without offer</a:t>
            </a:r>
            <a:endParaRPr b="0" lang="en-US" sz="24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p14:dur="10"/>
    </mc:Choice>
    <mc:Fallback>
      <p:transition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hape 202"/>
          <p:cNvSpPr/>
          <p:nvPr/>
        </p:nvSpPr>
        <p:spPr>
          <a:xfrm>
            <a:off x="312480" y="1023120"/>
            <a:ext cx="8057160" cy="3164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2438280">
              <a:lnSpc>
                <a:spcPct val="115000"/>
              </a:lnSpc>
            </a:pPr>
            <a:r>
              <a:rPr b="0" lang="pt-BR" sz="1390" strike="noStrike" u="non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Time of using the application: newer users transact less oftren than older ones</a:t>
            </a:r>
            <a:endParaRPr b="0" lang="en-US" sz="13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9" name="Shape 204" descr="Shape 204"/>
          <p:cNvPicPr/>
          <p:nvPr/>
        </p:nvPicPr>
        <p:blipFill>
          <a:blip r:embed="rId1"/>
          <a:srcRect l="325" t="0" r="325" b="0"/>
          <a:stretch/>
        </p:blipFill>
        <p:spPr>
          <a:xfrm>
            <a:off x="8203320" y="4584960"/>
            <a:ext cx="652680" cy="35424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200" name="Shape 203"/>
          <p:cNvSpPr/>
          <p:nvPr/>
        </p:nvSpPr>
        <p:spPr>
          <a:xfrm>
            <a:off x="272160" y="234360"/>
            <a:ext cx="6811920" cy="5648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defTabSz="2438280">
              <a:lnSpc>
                <a:spcPct val="100000"/>
              </a:lnSpc>
            </a:pPr>
            <a:r>
              <a:rPr b="1" lang="pt-BR" sz="2470" strike="noStrike" u="none">
                <a:solidFill>
                  <a:srgbClr val="e4002b"/>
                </a:solidFill>
                <a:effectLst/>
                <a:uFillTx/>
                <a:latin typeface="Helvetica Neue"/>
                <a:ea typeface="Arial"/>
              </a:rPr>
              <a:t>User profile – without offer</a:t>
            </a:r>
            <a:endParaRPr b="0" lang="en-US" sz="24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1" name="Imagem 2" descr="Gráfico, Gráfico de barras&#10;&#10;O conteúdo gerado por IA pode estar incorreto."/>
          <p:cNvPicPr/>
          <p:nvPr/>
        </p:nvPicPr>
        <p:blipFill>
          <a:blip r:embed="rId2"/>
          <a:stretch/>
        </p:blipFill>
        <p:spPr>
          <a:xfrm>
            <a:off x="2334240" y="1623960"/>
            <a:ext cx="4474800" cy="3043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p14:dur="10"/>
    </mc:Choice>
    <mc:Fallback>
      <p:transition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Shape 202"/>
          <p:cNvSpPr/>
          <p:nvPr/>
        </p:nvSpPr>
        <p:spPr>
          <a:xfrm>
            <a:off x="1883880" y="1972800"/>
            <a:ext cx="5375520" cy="7390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2438280">
              <a:lnSpc>
                <a:spcPct val="115000"/>
              </a:lnSpc>
            </a:pPr>
            <a:r>
              <a:rPr b="0" lang="pt-BR" sz="4000" strike="noStrike" u="non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Gender: plays no rule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3" name="Shape 204" descr="Shape 204"/>
          <p:cNvPicPr/>
          <p:nvPr/>
        </p:nvPicPr>
        <p:blipFill>
          <a:blip r:embed="rId1"/>
          <a:srcRect l="325" t="0" r="325" b="0"/>
          <a:stretch/>
        </p:blipFill>
        <p:spPr>
          <a:xfrm>
            <a:off x="8203320" y="4584960"/>
            <a:ext cx="652680" cy="35424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204" name="Shape 203"/>
          <p:cNvSpPr/>
          <p:nvPr/>
        </p:nvSpPr>
        <p:spPr>
          <a:xfrm>
            <a:off x="272160" y="234360"/>
            <a:ext cx="6811920" cy="5648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defTabSz="2438280">
              <a:lnSpc>
                <a:spcPct val="100000"/>
              </a:lnSpc>
            </a:pPr>
            <a:r>
              <a:rPr b="1" lang="pt-BR" sz="2470" strike="noStrike" u="none">
                <a:solidFill>
                  <a:srgbClr val="e4002b"/>
                </a:solidFill>
                <a:effectLst/>
                <a:uFillTx/>
                <a:latin typeface="Helvetica Neue"/>
                <a:ea typeface="Arial"/>
              </a:rPr>
              <a:t>User profile – without offer</a:t>
            </a:r>
            <a:endParaRPr b="0" lang="en-US" sz="24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p14:dur="10"/>
    </mc:Choice>
    <mc:Fallback>
      <p:transition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203"/>
          <p:cNvSpPr/>
          <p:nvPr/>
        </p:nvSpPr>
        <p:spPr>
          <a:xfrm>
            <a:off x="272160" y="234360"/>
            <a:ext cx="6811920" cy="5601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defTabSz="2438280">
              <a:lnSpc>
                <a:spcPct val="100000"/>
              </a:lnSpc>
            </a:pPr>
            <a:r>
              <a:rPr b="1" lang="pt-BR" sz="2470" strike="noStrike" u="none">
                <a:solidFill>
                  <a:srgbClr val="e4002b"/>
                </a:solidFill>
                <a:effectLst/>
                <a:uFillTx/>
                <a:latin typeface="Helvetica Neue"/>
                <a:ea typeface="Arial"/>
              </a:rPr>
              <a:t>User profile – with offer</a:t>
            </a:r>
            <a:endParaRPr b="0" lang="en-US" sz="24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6" name="Shape 204" descr="Shape 204"/>
          <p:cNvPicPr/>
          <p:nvPr/>
        </p:nvPicPr>
        <p:blipFill>
          <a:blip r:embed="rId1"/>
          <a:srcRect l="325" t="0" r="325" b="0"/>
          <a:stretch/>
        </p:blipFill>
        <p:spPr>
          <a:xfrm>
            <a:off x="8203320" y="4584960"/>
            <a:ext cx="652680" cy="354240"/>
          </a:xfrm>
          <a:prstGeom prst="rect">
            <a:avLst/>
          </a:prstGeom>
          <a:noFill/>
          <a:ln w="12700">
            <a:noFill/>
          </a:ln>
        </p:spPr>
      </p:pic>
      <p:cxnSp>
        <p:nvCxnSpPr>
          <p:cNvPr id="207" name="Conector reto 2"/>
          <p:cNvCxnSpPr/>
          <p:nvPr/>
        </p:nvCxnSpPr>
        <p:spPr>
          <a:xfrm>
            <a:off x="802440" y="2722320"/>
            <a:ext cx="4271400" cy="72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cxnSp>
        <p:nvCxnSpPr>
          <p:cNvPr id="208" name="Conector reto 6"/>
          <p:cNvCxnSpPr/>
          <p:nvPr/>
        </p:nvCxnSpPr>
        <p:spPr>
          <a:xfrm>
            <a:off x="2707200" y="2305080"/>
            <a:ext cx="720" cy="860760"/>
          </a:xfrm>
          <a:prstGeom prst="straightConnector1">
            <a:avLst/>
          </a:prstGeom>
          <a:ln w="19050">
            <a:solidFill>
              <a:srgbClr val="ff644e"/>
            </a:solidFill>
            <a:prstDash val="dash"/>
            <a:round/>
          </a:ln>
        </p:spPr>
      </p:cxnSp>
      <p:sp>
        <p:nvSpPr>
          <p:cNvPr id="209" name="Shape 202"/>
          <p:cNvSpPr/>
          <p:nvPr/>
        </p:nvSpPr>
        <p:spPr>
          <a:xfrm>
            <a:off x="2349720" y="2054520"/>
            <a:ext cx="714600" cy="2048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2438280">
              <a:lnSpc>
                <a:spcPct val="115000"/>
              </a:lnSpc>
            </a:pPr>
            <a:r>
              <a:rPr b="0" lang="pt-BR" sz="7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Offer received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Chave Esquerda 10"/>
          <p:cNvSpPr/>
          <p:nvPr/>
        </p:nvSpPr>
        <p:spPr>
          <a:xfrm rot="16200000">
            <a:off x="3831480" y="2127600"/>
            <a:ext cx="185040" cy="2232720"/>
          </a:xfrm>
          <a:prstGeom prst="leftBrace">
            <a:avLst>
              <a:gd name="adj1" fmla="val 0"/>
              <a:gd name="adj2" fmla="val 50000"/>
            </a:avLst>
          </a:prstGeom>
          <a:noFill/>
          <a:ln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4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cxnSp>
        <p:nvCxnSpPr>
          <p:cNvPr id="211" name="Conector reto 11"/>
          <p:cNvCxnSpPr/>
          <p:nvPr/>
        </p:nvCxnSpPr>
        <p:spPr>
          <a:xfrm>
            <a:off x="5073120" y="2274840"/>
            <a:ext cx="720" cy="860760"/>
          </a:xfrm>
          <a:prstGeom prst="straightConnector1">
            <a:avLst/>
          </a:prstGeom>
          <a:ln w="19050">
            <a:solidFill>
              <a:srgbClr val="00a2ff"/>
            </a:solidFill>
            <a:prstDash val="dash"/>
            <a:round/>
          </a:ln>
        </p:spPr>
      </p:cxnSp>
      <p:sp>
        <p:nvSpPr>
          <p:cNvPr id="212" name="Shape 202"/>
          <p:cNvSpPr/>
          <p:nvPr/>
        </p:nvSpPr>
        <p:spPr>
          <a:xfrm>
            <a:off x="3204360" y="3342600"/>
            <a:ext cx="1524240" cy="8240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2438280">
              <a:lnSpc>
                <a:spcPct val="115000"/>
              </a:lnSpc>
            </a:pPr>
            <a:r>
              <a:rPr b="0" lang="pt-BR" sz="7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Offer led to transaction :Class = 1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2438280">
              <a:lnSpc>
                <a:spcPct val="115000"/>
              </a:lnSpc>
            </a:pPr>
            <a:r>
              <a:rPr b="0" lang="pt-BR" sz="7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If there is na offer inside the time window if the discount type is “Information”. If the offer is of type “discount” or “BOGO”, it should also be higher than min_value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3" name="Picture 2" descr="Imagens de Hatch Lines – Explore Fotografias do Stock ..."/>
          <p:cNvPicPr/>
          <p:nvPr/>
        </p:nvPicPr>
        <p:blipFill>
          <a:blip r:embed="rId2"/>
          <a:stretch/>
        </p:blipFill>
        <p:spPr>
          <a:xfrm>
            <a:off x="3002760" y="-437400"/>
            <a:ext cx="179280" cy="4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4" name="Chave Esquerda 14"/>
          <p:cNvSpPr/>
          <p:nvPr/>
        </p:nvSpPr>
        <p:spPr>
          <a:xfrm rot="16200000">
            <a:off x="3801960" y="3169440"/>
            <a:ext cx="204840" cy="2271960"/>
          </a:xfrm>
          <a:prstGeom prst="leftBrace">
            <a:avLst>
              <a:gd name="adj1" fmla="val 874964"/>
              <a:gd name="adj2" fmla="val 50000"/>
            </a:avLst>
          </a:prstGeom>
          <a:noFill/>
          <a:ln w="19050">
            <a:solidFill>
              <a:srgbClr val="45aa21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400" strike="noStrike" u="none">
              <a:solidFill>
                <a:schemeClr val="accent5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15" name="Shape 202"/>
          <p:cNvSpPr/>
          <p:nvPr/>
        </p:nvSpPr>
        <p:spPr>
          <a:xfrm>
            <a:off x="272160" y="968760"/>
            <a:ext cx="3108240" cy="3164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2438280">
              <a:lnSpc>
                <a:spcPct val="115000"/>
              </a:lnSpc>
            </a:pPr>
            <a:r>
              <a:rPr b="0" lang="pt-BR" sz="1390" strike="noStrike" u="non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“Propense” after receiving an offer </a:t>
            </a:r>
            <a:endParaRPr b="0" lang="en-US" sz="13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202"/>
          <p:cNvSpPr/>
          <p:nvPr/>
        </p:nvSpPr>
        <p:spPr>
          <a:xfrm>
            <a:off x="4476600" y="2073960"/>
            <a:ext cx="1377360" cy="2048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2438280">
              <a:lnSpc>
                <a:spcPct val="115000"/>
              </a:lnSpc>
            </a:pPr>
            <a:r>
              <a:rPr b="0" lang="pt-BR" sz="7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Offer received + Offer duration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202"/>
          <p:cNvSpPr/>
          <p:nvPr/>
        </p:nvSpPr>
        <p:spPr>
          <a:xfrm>
            <a:off x="5924160" y="3150720"/>
            <a:ext cx="1713240" cy="4525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2438280">
              <a:lnSpc>
                <a:spcPct val="115000"/>
              </a:lnSpc>
            </a:pPr>
            <a:r>
              <a:rPr b="0" lang="pt-BR" sz="7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Offer not led to transaction :Class = 0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2438280">
              <a:lnSpc>
                <a:spcPct val="115000"/>
              </a:lnSpc>
            </a:pPr>
            <a:r>
              <a:rPr b="0" lang="pt-BR" sz="7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If not inside the time window or if it doesnt follow the min value rule.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Chave Esquerda 5"/>
          <p:cNvSpPr/>
          <p:nvPr/>
        </p:nvSpPr>
        <p:spPr>
          <a:xfrm rot="16200000">
            <a:off x="6477120" y="2234880"/>
            <a:ext cx="204840" cy="2934000"/>
          </a:xfrm>
          <a:prstGeom prst="leftBrace">
            <a:avLst>
              <a:gd name="adj1" fmla="val 874964"/>
              <a:gd name="adj2" fmla="val 50000"/>
            </a:avLst>
          </a:prstGeom>
          <a:noFill/>
          <a:ln w="19050">
            <a:solidFill>
              <a:srgbClr val="ff000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400" strike="noStrike" u="none">
              <a:solidFill>
                <a:schemeClr val="accent5"/>
              </a:solidFill>
              <a:effectLst/>
              <a:uFillTx/>
              <a:latin typeface="Arial"/>
              <a:ea typeface="Arial"/>
            </a:endParaRPr>
          </a:p>
        </p:txBody>
      </p:sp>
      <p:pic>
        <p:nvPicPr>
          <p:cNvPr id="219" name="Picture 2" descr="Transaction - Free business and finance icons"/>
          <p:cNvPicPr/>
          <p:nvPr/>
        </p:nvPicPr>
        <p:blipFill>
          <a:blip r:embed="rId3"/>
          <a:stretch/>
        </p:blipFill>
        <p:spPr>
          <a:xfrm>
            <a:off x="3204360" y="1814760"/>
            <a:ext cx="326160" cy="326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0" name="Picture 2" descr="Transaction - Free business and finance icons"/>
          <p:cNvPicPr/>
          <p:nvPr/>
        </p:nvPicPr>
        <p:blipFill>
          <a:blip r:embed="rId4"/>
          <a:stretch/>
        </p:blipFill>
        <p:spPr>
          <a:xfrm>
            <a:off x="3631680" y="1816560"/>
            <a:ext cx="326160" cy="326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1" name="Picture 2" descr="Transaction - Free business and finance icons"/>
          <p:cNvPicPr/>
          <p:nvPr/>
        </p:nvPicPr>
        <p:blipFill>
          <a:blip r:embed="rId5"/>
          <a:stretch/>
        </p:blipFill>
        <p:spPr>
          <a:xfrm>
            <a:off x="4097880" y="1821600"/>
            <a:ext cx="326160" cy="326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2" name="Picture 4" descr=""/>
          <p:cNvPicPr/>
          <p:nvPr/>
        </p:nvPicPr>
        <p:blipFill>
          <a:blip r:embed="rId6"/>
          <a:stretch/>
        </p:blipFill>
        <p:spPr>
          <a:xfrm>
            <a:off x="3182760" y="1532880"/>
            <a:ext cx="233640" cy="2336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23" name="Conector reto 22"/>
          <p:cNvCxnSpPr/>
          <p:nvPr/>
        </p:nvCxnSpPr>
        <p:spPr>
          <a:xfrm>
            <a:off x="5073120" y="3134880"/>
            <a:ext cx="2974680" cy="72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pic>
        <p:nvPicPr>
          <p:cNvPr id="224" name="Picture 2" descr="Transaction - Free business and finance icons"/>
          <p:cNvPicPr/>
          <p:nvPr/>
        </p:nvPicPr>
        <p:blipFill>
          <a:blip r:embed="rId7"/>
          <a:stretch/>
        </p:blipFill>
        <p:spPr>
          <a:xfrm>
            <a:off x="6295320" y="2692440"/>
            <a:ext cx="326160" cy="326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5" name="Picture 2" descr="Transaction - Free business and finance icons"/>
          <p:cNvPicPr/>
          <p:nvPr/>
        </p:nvPicPr>
        <p:blipFill>
          <a:blip r:embed="rId8"/>
          <a:stretch/>
        </p:blipFill>
        <p:spPr>
          <a:xfrm>
            <a:off x="6861960" y="2693520"/>
            <a:ext cx="326160" cy="326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6" name="Picture 4" descr=""/>
          <p:cNvPicPr/>
          <p:nvPr/>
        </p:nvPicPr>
        <p:blipFill>
          <a:blip r:embed="rId9"/>
          <a:stretch/>
        </p:blipFill>
        <p:spPr>
          <a:xfrm>
            <a:off x="3640320" y="1542960"/>
            <a:ext cx="233640" cy="233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7" name="Picture 4" descr=""/>
          <p:cNvPicPr/>
          <p:nvPr/>
        </p:nvPicPr>
        <p:blipFill>
          <a:blip r:embed="rId10"/>
          <a:stretch/>
        </p:blipFill>
        <p:spPr>
          <a:xfrm>
            <a:off x="4097880" y="1550880"/>
            <a:ext cx="233640" cy="233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8" name="Picture 2" descr="Transaction - Free business and finance icons"/>
          <p:cNvPicPr/>
          <p:nvPr/>
        </p:nvPicPr>
        <p:blipFill>
          <a:blip r:embed="rId11"/>
          <a:stretch/>
        </p:blipFill>
        <p:spPr>
          <a:xfrm>
            <a:off x="4506480" y="2808360"/>
            <a:ext cx="326160" cy="326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9" name="Picture 8" descr="Botão x - ícones de interface grátis"/>
          <p:cNvPicPr/>
          <p:nvPr/>
        </p:nvPicPr>
        <p:blipFill>
          <a:blip r:embed="rId12"/>
          <a:stretch/>
        </p:blipFill>
        <p:spPr>
          <a:xfrm>
            <a:off x="4496040" y="2595240"/>
            <a:ext cx="196920" cy="19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0" name="Picture 8" descr="Botão x - ícones de interface grátis"/>
          <p:cNvPicPr/>
          <p:nvPr/>
        </p:nvPicPr>
        <p:blipFill>
          <a:blip r:embed="rId13"/>
          <a:stretch/>
        </p:blipFill>
        <p:spPr>
          <a:xfrm>
            <a:off x="6275880" y="2474640"/>
            <a:ext cx="196920" cy="19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1" name="Picture 8" descr="Botão x - ícones de interface grátis"/>
          <p:cNvPicPr/>
          <p:nvPr/>
        </p:nvPicPr>
        <p:blipFill>
          <a:blip r:embed="rId14"/>
          <a:stretch/>
        </p:blipFill>
        <p:spPr>
          <a:xfrm>
            <a:off x="6846120" y="2477880"/>
            <a:ext cx="196920" cy="196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p14:dur="10"/>
    </mc:Choice>
    <mc:Fallback>
      <p:transition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Shape 202"/>
          <p:cNvSpPr/>
          <p:nvPr/>
        </p:nvSpPr>
        <p:spPr>
          <a:xfrm>
            <a:off x="312480" y="1023120"/>
            <a:ext cx="5706000" cy="3164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2438280">
              <a:lnSpc>
                <a:spcPct val="115000"/>
              </a:lnSpc>
            </a:pPr>
            <a:r>
              <a:rPr b="0" lang="pt-BR" sz="1390" strike="noStrike" u="non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Credit Limit and Conversion: mid class uses offers more frequently</a:t>
            </a:r>
            <a:endParaRPr b="0" lang="en-US" sz="13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3" name="Shape 204" descr="Shape 204"/>
          <p:cNvPicPr/>
          <p:nvPr/>
        </p:nvPicPr>
        <p:blipFill>
          <a:blip r:embed="rId1"/>
          <a:srcRect l="325" t="0" r="325" b="0"/>
          <a:stretch/>
        </p:blipFill>
        <p:spPr>
          <a:xfrm>
            <a:off x="8203320" y="4584960"/>
            <a:ext cx="652680" cy="35424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234" name="Shape 203"/>
          <p:cNvSpPr/>
          <p:nvPr/>
        </p:nvSpPr>
        <p:spPr>
          <a:xfrm>
            <a:off x="272160" y="234360"/>
            <a:ext cx="6811920" cy="5648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defTabSz="2438280">
              <a:lnSpc>
                <a:spcPct val="100000"/>
              </a:lnSpc>
            </a:pPr>
            <a:r>
              <a:rPr b="1" lang="pt-BR" sz="2470" strike="noStrike" u="none">
                <a:solidFill>
                  <a:srgbClr val="e4002b"/>
                </a:solidFill>
                <a:effectLst/>
                <a:uFillTx/>
                <a:latin typeface="Helvetica Neue"/>
                <a:ea typeface="Arial"/>
              </a:rPr>
              <a:t>User profile – offer received</a:t>
            </a:r>
            <a:endParaRPr b="0" lang="en-US" sz="24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5" name="Imagem 2" descr="Gráfico, Histograma&#10;&#10;O conteúdo gerado por IA pode estar incorreto."/>
          <p:cNvPicPr/>
          <p:nvPr/>
        </p:nvPicPr>
        <p:blipFill>
          <a:blip r:embed="rId2"/>
          <a:stretch/>
        </p:blipFill>
        <p:spPr>
          <a:xfrm>
            <a:off x="1793520" y="1663920"/>
            <a:ext cx="4832640" cy="3244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p14:dur="10"/>
    </mc:Choice>
    <mc:Fallback>
      <p:transition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Shape 202"/>
          <p:cNvSpPr/>
          <p:nvPr/>
        </p:nvSpPr>
        <p:spPr>
          <a:xfrm>
            <a:off x="312480" y="1023120"/>
            <a:ext cx="5706000" cy="3164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2438280">
              <a:lnSpc>
                <a:spcPct val="115000"/>
              </a:lnSpc>
            </a:pPr>
            <a:r>
              <a:rPr b="0" lang="pt-BR" sz="1390" strike="noStrike" u="non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Age and Conversion: youngers accept offers better </a:t>
            </a:r>
            <a:endParaRPr b="0" lang="en-US" sz="13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7" name="Shape 204" descr="Shape 204"/>
          <p:cNvPicPr/>
          <p:nvPr/>
        </p:nvPicPr>
        <p:blipFill>
          <a:blip r:embed="rId1"/>
          <a:srcRect l="325" t="0" r="325" b="0"/>
          <a:stretch/>
        </p:blipFill>
        <p:spPr>
          <a:xfrm>
            <a:off x="8203320" y="4584960"/>
            <a:ext cx="652680" cy="35424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238" name="Shape 203"/>
          <p:cNvSpPr/>
          <p:nvPr/>
        </p:nvSpPr>
        <p:spPr>
          <a:xfrm>
            <a:off x="272160" y="234360"/>
            <a:ext cx="6811920" cy="5648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defTabSz="2438280">
              <a:lnSpc>
                <a:spcPct val="100000"/>
              </a:lnSpc>
            </a:pPr>
            <a:r>
              <a:rPr b="1" lang="pt-BR" sz="2470" strike="noStrike" u="none">
                <a:solidFill>
                  <a:srgbClr val="e4002b"/>
                </a:solidFill>
                <a:effectLst/>
                <a:uFillTx/>
                <a:latin typeface="Helvetica Neue"/>
                <a:ea typeface="Arial"/>
              </a:rPr>
              <a:t>User profile – offer received</a:t>
            </a:r>
            <a:endParaRPr b="0" lang="en-US" sz="24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9" name="Imagem 8" descr="Gráfico, Histograma&#10;&#10;O conteúdo gerado por IA pode estar incorreto."/>
          <p:cNvPicPr/>
          <p:nvPr/>
        </p:nvPicPr>
        <p:blipFill>
          <a:blip r:embed="rId2"/>
          <a:stretch/>
        </p:blipFill>
        <p:spPr>
          <a:xfrm>
            <a:off x="2127600" y="1563480"/>
            <a:ext cx="4887720" cy="3281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p14:dur="10"/>
    </mc:Choice>
    <mc:Fallback>
      <p:transition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Shape 202"/>
          <p:cNvSpPr/>
          <p:nvPr/>
        </p:nvSpPr>
        <p:spPr>
          <a:xfrm>
            <a:off x="312480" y="1023120"/>
            <a:ext cx="5706000" cy="3164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2438280">
              <a:lnSpc>
                <a:spcPct val="115000"/>
              </a:lnSpc>
            </a:pPr>
            <a:r>
              <a:rPr b="0" lang="pt-BR" sz="1390" strike="noStrike" u="non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Gender: again no rule at all</a:t>
            </a:r>
            <a:endParaRPr b="0" lang="en-US" sz="13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1" name="Shape 204" descr="Shape 204"/>
          <p:cNvPicPr/>
          <p:nvPr/>
        </p:nvPicPr>
        <p:blipFill>
          <a:blip r:embed="rId1"/>
          <a:srcRect l="325" t="0" r="325" b="0"/>
          <a:stretch/>
        </p:blipFill>
        <p:spPr>
          <a:xfrm>
            <a:off x="8203320" y="4584960"/>
            <a:ext cx="652680" cy="35424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242" name="Shape 203"/>
          <p:cNvSpPr/>
          <p:nvPr/>
        </p:nvSpPr>
        <p:spPr>
          <a:xfrm>
            <a:off x="272160" y="234360"/>
            <a:ext cx="6811920" cy="5648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defTabSz="2438280">
              <a:lnSpc>
                <a:spcPct val="100000"/>
              </a:lnSpc>
            </a:pPr>
            <a:r>
              <a:rPr b="1" lang="pt-BR" sz="2470" strike="noStrike" u="none">
                <a:solidFill>
                  <a:srgbClr val="e4002b"/>
                </a:solidFill>
                <a:effectLst/>
                <a:uFillTx/>
                <a:latin typeface="Helvetica Neue"/>
                <a:ea typeface="Arial"/>
              </a:rPr>
              <a:t>User profile – offer received</a:t>
            </a:r>
            <a:endParaRPr b="0" lang="en-US" sz="24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3" name="Imagem 2" descr="Gráfico, Gráfico de barras&#10;&#10;O conteúdo gerado por IA pode estar incorreto."/>
          <p:cNvPicPr/>
          <p:nvPr/>
        </p:nvPicPr>
        <p:blipFill>
          <a:blip r:embed="rId2"/>
          <a:stretch/>
        </p:blipFill>
        <p:spPr>
          <a:xfrm>
            <a:off x="2447280" y="1646640"/>
            <a:ext cx="4248360" cy="3114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p14:dur="10"/>
    </mc:Choice>
    <mc:Fallback>
      <p:transition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Shape 202"/>
          <p:cNvSpPr/>
          <p:nvPr/>
        </p:nvSpPr>
        <p:spPr>
          <a:xfrm>
            <a:off x="312480" y="1023120"/>
            <a:ext cx="6871680" cy="3164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2438280">
              <a:lnSpc>
                <a:spcPct val="115000"/>
              </a:lnSpc>
            </a:pPr>
            <a:r>
              <a:rPr b="0" lang="pt-BR" sz="1390" strike="noStrike" u="non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Discount value: offers with higher discount value are more likely led to transaction</a:t>
            </a:r>
            <a:endParaRPr b="0" lang="en-US" sz="13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5" name="Shape 204" descr="Shape 204"/>
          <p:cNvPicPr/>
          <p:nvPr/>
        </p:nvPicPr>
        <p:blipFill>
          <a:blip r:embed="rId1"/>
          <a:srcRect l="325" t="0" r="325" b="0"/>
          <a:stretch/>
        </p:blipFill>
        <p:spPr>
          <a:xfrm>
            <a:off x="8203320" y="4584960"/>
            <a:ext cx="652680" cy="35424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246" name="Shape 203"/>
          <p:cNvSpPr/>
          <p:nvPr/>
        </p:nvSpPr>
        <p:spPr>
          <a:xfrm>
            <a:off x="272160" y="234360"/>
            <a:ext cx="6811920" cy="5648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defTabSz="2438280">
              <a:lnSpc>
                <a:spcPct val="100000"/>
              </a:lnSpc>
            </a:pPr>
            <a:r>
              <a:rPr b="1" lang="pt-BR" sz="2470" strike="noStrike" u="none">
                <a:solidFill>
                  <a:srgbClr val="e4002b"/>
                </a:solidFill>
                <a:effectLst/>
                <a:uFillTx/>
                <a:latin typeface="Helvetica Neue"/>
                <a:ea typeface="Arial"/>
              </a:rPr>
              <a:t>Offer characteristics</a:t>
            </a:r>
            <a:endParaRPr b="0" lang="en-US" sz="24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7" name="Imagem 2" descr="Gráfico, Gráfico de barras&#10;&#10;O conteúdo gerado por IA pode estar incorreto."/>
          <p:cNvPicPr/>
          <p:nvPr/>
        </p:nvPicPr>
        <p:blipFill>
          <a:blip r:embed="rId2"/>
          <a:stretch/>
        </p:blipFill>
        <p:spPr>
          <a:xfrm>
            <a:off x="818640" y="1546200"/>
            <a:ext cx="3395880" cy="2748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8" name="Imagem 6" descr="Gráfico, Gráfico de barras&#10;&#10;O conteúdo gerado por IA pode estar incorreto."/>
          <p:cNvPicPr/>
          <p:nvPr/>
        </p:nvPicPr>
        <p:blipFill>
          <a:blip r:embed="rId3"/>
          <a:stretch/>
        </p:blipFill>
        <p:spPr>
          <a:xfrm>
            <a:off x="4215240" y="1563480"/>
            <a:ext cx="3783600" cy="2573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p14:dur="10"/>
    </mc:Choice>
    <mc:Fallback>
      <p:transition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Shape 202"/>
          <p:cNvSpPr/>
          <p:nvPr/>
        </p:nvSpPr>
        <p:spPr>
          <a:xfrm>
            <a:off x="312480" y="1023120"/>
            <a:ext cx="6871680" cy="3164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2438280">
              <a:lnSpc>
                <a:spcPct val="115000"/>
              </a:lnSpc>
            </a:pPr>
            <a:r>
              <a:rPr b="0" lang="pt-BR" sz="1390" strike="noStrike" u="non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Min value: offers with higher min value result more often to a transaction</a:t>
            </a:r>
            <a:endParaRPr b="0" lang="en-US" sz="13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0" name="Shape 204" descr="Shape 204"/>
          <p:cNvPicPr/>
          <p:nvPr/>
        </p:nvPicPr>
        <p:blipFill>
          <a:blip r:embed="rId1"/>
          <a:srcRect l="325" t="0" r="325" b="0"/>
          <a:stretch/>
        </p:blipFill>
        <p:spPr>
          <a:xfrm>
            <a:off x="8203320" y="4584960"/>
            <a:ext cx="652680" cy="35424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251" name="Shape 203"/>
          <p:cNvSpPr/>
          <p:nvPr/>
        </p:nvSpPr>
        <p:spPr>
          <a:xfrm>
            <a:off x="272160" y="234360"/>
            <a:ext cx="6811920" cy="5648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defTabSz="2438280">
              <a:lnSpc>
                <a:spcPct val="100000"/>
              </a:lnSpc>
            </a:pPr>
            <a:r>
              <a:rPr b="1" lang="pt-BR" sz="2470" strike="noStrike" u="none">
                <a:solidFill>
                  <a:srgbClr val="e4002b"/>
                </a:solidFill>
                <a:effectLst/>
                <a:uFillTx/>
                <a:latin typeface="Helvetica Neue"/>
                <a:ea typeface="Arial"/>
              </a:rPr>
              <a:t>Offer characteristics</a:t>
            </a:r>
            <a:endParaRPr b="0" lang="en-US" sz="24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2" name="Imagem 3" descr="Gráfico&#10;&#10;O conteúdo gerado por IA pode estar incorreto."/>
          <p:cNvPicPr/>
          <p:nvPr/>
        </p:nvPicPr>
        <p:blipFill>
          <a:blip r:embed="rId2"/>
          <a:stretch/>
        </p:blipFill>
        <p:spPr>
          <a:xfrm>
            <a:off x="2135520" y="1563480"/>
            <a:ext cx="4479840" cy="3046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p14:dur="10"/>
    </mc:Choice>
    <mc:Fallback>
      <p:transition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02"/>
          <p:cNvSpPr/>
          <p:nvPr/>
        </p:nvSpPr>
        <p:spPr>
          <a:xfrm>
            <a:off x="312480" y="1023120"/>
            <a:ext cx="5706000" cy="3164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2438280">
              <a:lnSpc>
                <a:spcPct val="115000"/>
              </a:lnSpc>
            </a:pPr>
            <a:r>
              <a:rPr b="0" lang="pt-BR" sz="1390" strike="noStrike" u="non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Offers duration: longer offers are more likely led to transaction</a:t>
            </a:r>
            <a:endParaRPr b="0" lang="en-US" sz="13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4" name="Shape 204" descr="Shape 204"/>
          <p:cNvPicPr/>
          <p:nvPr/>
        </p:nvPicPr>
        <p:blipFill>
          <a:blip r:embed="rId1"/>
          <a:srcRect l="325" t="0" r="325" b="0"/>
          <a:stretch/>
        </p:blipFill>
        <p:spPr>
          <a:xfrm>
            <a:off x="8203320" y="4584960"/>
            <a:ext cx="652680" cy="35424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255" name="Shape 203"/>
          <p:cNvSpPr/>
          <p:nvPr/>
        </p:nvSpPr>
        <p:spPr>
          <a:xfrm>
            <a:off x="272160" y="234360"/>
            <a:ext cx="6811920" cy="5648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defTabSz="2438280">
              <a:lnSpc>
                <a:spcPct val="100000"/>
              </a:lnSpc>
            </a:pPr>
            <a:r>
              <a:rPr b="1" lang="pt-BR" sz="2470" strike="noStrike" u="none">
                <a:solidFill>
                  <a:srgbClr val="e4002b"/>
                </a:solidFill>
                <a:effectLst/>
                <a:uFillTx/>
                <a:latin typeface="Helvetica Neue"/>
                <a:ea typeface="Arial"/>
              </a:rPr>
              <a:t>Offer characteristics</a:t>
            </a:r>
            <a:endParaRPr b="0" lang="en-US" sz="24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6" name="Imagem 3" descr="Gráfico, Gráfico de barras&#10;&#10;O conteúdo gerado por IA pode estar incorreto."/>
          <p:cNvPicPr/>
          <p:nvPr/>
        </p:nvPicPr>
        <p:blipFill>
          <a:blip r:embed="rId2"/>
          <a:stretch/>
        </p:blipFill>
        <p:spPr>
          <a:xfrm>
            <a:off x="2885040" y="1720800"/>
            <a:ext cx="3372840" cy="3040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p14:dur="10"/>
    </mc:Choice>
    <mc:Fallback>
      <p:transition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Shape 202"/>
          <p:cNvSpPr/>
          <p:nvPr/>
        </p:nvSpPr>
        <p:spPr>
          <a:xfrm>
            <a:off x="312480" y="1023120"/>
            <a:ext cx="5706000" cy="3164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2438280">
              <a:lnSpc>
                <a:spcPct val="115000"/>
              </a:lnSpc>
            </a:pPr>
            <a:r>
              <a:rPr b="0" lang="pt-BR" sz="1390" strike="noStrike" u="non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Offers type: BOGO and Discount lead to transaction more likely</a:t>
            </a:r>
            <a:endParaRPr b="0" lang="en-US" sz="13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8" name="Shape 204" descr="Shape 204"/>
          <p:cNvPicPr/>
          <p:nvPr/>
        </p:nvPicPr>
        <p:blipFill>
          <a:blip r:embed="rId1"/>
          <a:srcRect l="325" t="0" r="325" b="0"/>
          <a:stretch/>
        </p:blipFill>
        <p:spPr>
          <a:xfrm>
            <a:off x="8203320" y="4584960"/>
            <a:ext cx="652680" cy="35424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259" name="Shape 203"/>
          <p:cNvSpPr/>
          <p:nvPr/>
        </p:nvSpPr>
        <p:spPr>
          <a:xfrm>
            <a:off x="272160" y="234360"/>
            <a:ext cx="6811920" cy="5648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defTabSz="2438280">
              <a:lnSpc>
                <a:spcPct val="100000"/>
              </a:lnSpc>
            </a:pPr>
            <a:r>
              <a:rPr b="1" lang="pt-BR" sz="2470" strike="noStrike" u="none">
                <a:solidFill>
                  <a:srgbClr val="e4002b"/>
                </a:solidFill>
                <a:effectLst/>
                <a:uFillTx/>
                <a:latin typeface="Helvetica Neue"/>
                <a:ea typeface="Arial"/>
              </a:rPr>
              <a:t>Offer characteristics</a:t>
            </a:r>
            <a:endParaRPr b="0" lang="en-US" sz="24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0" name="Imagem 2" descr="Gráfico, Gráfico de barras&#10;&#10;O conteúdo gerado por IA pode estar incorreto."/>
          <p:cNvPicPr/>
          <p:nvPr/>
        </p:nvPicPr>
        <p:blipFill>
          <a:blip r:embed="rId2"/>
          <a:stretch/>
        </p:blipFill>
        <p:spPr>
          <a:xfrm>
            <a:off x="2473200" y="1932480"/>
            <a:ext cx="4196520" cy="2920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p14:dur="10"/>
    </mc:Choice>
    <mc:Fallback>
      <p:transition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hape 202"/>
          <p:cNvSpPr/>
          <p:nvPr/>
        </p:nvSpPr>
        <p:spPr>
          <a:xfrm>
            <a:off x="312480" y="1023120"/>
            <a:ext cx="5706000" cy="5619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2438280">
              <a:lnSpc>
                <a:spcPct val="115000"/>
              </a:lnSpc>
            </a:pPr>
            <a:r>
              <a:rPr b="0" lang="pt-BR" sz="1390" strike="noStrike" u="non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Offers channels: web and e-mail results in a higher transaction rate, mobile offers (SMS pushes) are not accepted so well</a:t>
            </a:r>
            <a:endParaRPr b="0" lang="en-US" sz="13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2" name="Shape 204" descr="Shape 204"/>
          <p:cNvPicPr/>
          <p:nvPr/>
        </p:nvPicPr>
        <p:blipFill>
          <a:blip r:embed="rId1"/>
          <a:srcRect l="325" t="0" r="325" b="0"/>
          <a:stretch/>
        </p:blipFill>
        <p:spPr>
          <a:xfrm>
            <a:off x="8203320" y="4584960"/>
            <a:ext cx="652680" cy="35424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263" name="Shape 203"/>
          <p:cNvSpPr/>
          <p:nvPr/>
        </p:nvSpPr>
        <p:spPr>
          <a:xfrm>
            <a:off x="272160" y="234360"/>
            <a:ext cx="6811920" cy="5648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defTabSz="2438280">
              <a:lnSpc>
                <a:spcPct val="100000"/>
              </a:lnSpc>
            </a:pPr>
            <a:r>
              <a:rPr b="1" lang="pt-BR" sz="2470" strike="noStrike" u="none">
                <a:solidFill>
                  <a:srgbClr val="e4002b"/>
                </a:solidFill>
                <a:effectLst/>
                <a:uFillTx/>
                <a:latin typeface="Helvetica Neue"/>
                <a:ea typeface="Arial"/>
              </a:rPr>
              <a:t>Offer characteristics</a:t>
            </a:r>
            <a:endParaRPr b="0" lang="en-US" sz="24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4" name="Imagem 3" descr="Gráfico, Gráfico de barras&#10;&#10;O conteúdo gerado por IA pode estar incorreto."/>
          <p:cNvPicPr/>
          <p:nvPr/>
        </p:nvPicPr>
        <p:blipFill>
          <a:blip r:embed="rId2"/>
          <a:stretch/>
        </p:blipFill>
        <p:spPr>
          <a:xfrm>
            <a:off x="2435040" y="1924920"/>
            <a:ext cx="4273560" cy="2836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p14:dur="10"/>
    </mc:Choice>
    <mc:Fallback>
      <p:transition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Shape 202"/>
          <p:cNvSpPr/>
          <p:nvPr/>
        </p:nvSpPr>
        <p:spPr>
          <a:xfrm>
            <a:off x="312480" y="1023120"/>
            <a:ext cx="5706000" cy="5619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2438280">
              <a:lnSpc>
                <a:spcPct val="115000"/>
              </a:lnSpc>
            </a:pPr>
            <a:r>
              <a:rPr b="0" lang="pt-BR" sz="1390" strike="noStrike" u="non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Offers channels: web and e-mail results in a higher transaction rate, mobile offers (SMS pushes) are not accepted so well</a:t>
            </a:r>
            <a:endParaRPr b="0" lang="en-US" sz="13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6" name="Shape 204" descr="Shape 204"/>
          <p:cNvPicPr/>
          <p:nvPr/>
        </p:nvPicPr>
        <p:blipFill>
          <a:blip r:embed="rId1"/>
          <a:srcRect l="325" t="0" r="325" b="0"/>
          <a:stretch/>
        </p:blipFill>
        <p:spPr>
          <a:xfrm>
            <a:off x="8203320" y="4584960"/>
            <a:ext cx="652680" cy="35424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267" name="Shape 203"/>
          <p:cNvSpPr/>
          <p:nvPr/>
        </p:nvSpPr>
        <p:spPr>
          <a:xfrm>
            <a:off x="272160" y="234360"/>
            <a:ext cx="6811920" cy="5648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defTabSz="2438280">
              <a:lnSpc>
                <a:spcPct val="100000"/>
              </a:lnSpc>
            </a:pPr>
            <a:r>
              <a:rPr b="1" lang="pt-BR" sz="2470" strike="noStrike" u="none">
                <a:solidFill>
                  <a:srgbClr val="e4002b"/>
                </a:solidFill>
                <a:effectLst/>
                <a:uFillTx/>
                <a:latin typeface="Helvetica Neue"/>
                <a:ea typeface="Arial"/>
              </a:rPr>
              <a:t>Offer characteristics</a:t>
            </a:r>
            <a:endParaRPr b="0" lang="en-US" sz="24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8" name="Imagem 3" descr="Gráfico, Gráfico de barras&#10;&#10;O conteúdo gerado por IA pode estar incorreto."/>
          <p:cNvPicPr/>
          <p:nvPr/>
        </p:nvPicPr>
        <p:blipFill>
          <a:blip r:embed="rId2"/>
          <a:stretch/>
        </p:blipFill>
        <p:spPr>
          <a:xfrm>
            <a:off x="2435040" y="1924920"/>
            <a:ext cx="4273560" cy="2836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p14:dur="10"/>
    </mc:Choice>
    <mc:Fallback>
      <p:transition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025;p298" descr=""/>
          <p:cNvPicPr/>
          <p:nvPr/>
        </p:nvPicPr>
        <p:blipFill>
          <a:blip r:embed="rId1"/>
          <a:stretch/>
        </p:blipFill>
        <p:spPr>
          <a:xfrm>
            <a:off x="0" y="0"/>
            <a:ext cx="9143280" cy="517356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70" name="Google Shape;2026;p298"/>
          <p:cNvCxnSpPr/>
          <p:nvPr/>
        </p:nvCxnSpPr>
        <p:spPr>
          <a:xfrm>
            <a:off x="0" y="5143320"/>
            <a:ext cx="9198720" cy="720"/>
          </a:xfrm>
          <a:prstGeom prst="straightConnector1">
            <a:avLst/>
          </a:prstGeom>
          <a:ln w="76200">
            <a:solidFill>
              <a:srgbClr val="ffffff"/>
            </a:solidFill>
            <a:round/>
          </a:ln>
        </p:spPr>
      </p:cxnSp>
      <p:sp>
        <p:nvSpPr>
          <p:cNvPr id="271" name="Google Shape;2027;p298"/>
          <p:cNvSpPr/>
          <p:nvPr/>
        </p:nvSpPr>
        <p:spPr>
          <a:xfrm>
            <a:off x="883080" y="1185480"/>
            <a:ext cx="7597080" cy="189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280" rIns="17280" tIns="17280" bIns="1728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6000" strike="noStrike" u="none"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</a:rPr>
              <a:t>Recommendations</a:t>
            </a:r>
            <a:endParaRPr b="0" lang="en-US" sz="6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6000" strike="noStrike" u="none"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</a:rPr>
              <a:t>to Marketing Team</a:t>
            </a:r>
            <a:endParaRPr b="0" lang="en-US" sz="6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2" name="Google Shape;2029;p298" descr=""/>
          <p:cNvPicPr/>
          <p:nvPr/>
        </p:nvPicPr>
        <p:blipFill>
          <a:blip r:embed="rId2"/>
          <a:stretch/>
        </p:blipFill>
        <p:spPr>
          <a:xfrm>
            <a:off x="8594640" y="222120"/>
            <a:ext cx="282240" cy="249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025;p298" descr=""/>
          <p:cNvPicPr/>
          <p:nvPr/>
        </p:nvPicPr>
        <p:blipFill>
          <a:blip r:embed="rId1"/>
          <a:stretch/>
        </p:blipFill>
        <p:spPr>
          <a:xfrm>
            <a:off x="0" y="0"/>
            <a:ext cx="9143280" cy="517356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74" name="Google Shape;2026;p298"/>
          <p:cNvCxnSpPr/>
          <p:nvPr/>
        </p:nvCxnSpPr>
        <p:spPr>
          <a:xfrm>
            <a:off x="0" y="5143320"/>
            <a:ext cx="9198720" cy="720"/>
          </a:xfrm>
          <a:prstGeom prst="straightConnector1">
            <a:avLst/>
          </a:prstGeom>
          <a:ln w="76200">
            <a:solidFill>
              <a:srgbClr val="ffffff"/>
            </a:solidFill>
            <a:round/>
          </a:ln>
        </p:spPr>
      </p:cxnSp>
      <p:sp>
        <p:nvSpPr>
          <p:cNvPr id="275" name="Google Shape;2027;p298"/>
          <p:cNvSpPr/>
          <p:nvPr/>
        </p:nvSpPr>
        <p:spPr>
          <a:xfrm>
            <a:off x="883080" y="1185480"/>
            <a:ext cx="7426440" cy="84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280" rIns="17280" tIns="17280" bIns="1728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6000" strike="noStrike" u="none"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</a:rPr>
              <a:t>Choosing the user</a:t>
            </a:r>
            <a:endParaRPr b="0" lang="en-US" sz="6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6" name="Google Shape;2029;p298" descr=""/>
          <p:cNvPicPr/>
          <p:nvPr/>
        </p:nvPicPr>
        <p:blipFill>
          <a:blip r:embed="rId2"/>
          <a:stretch/>
        </p:blipFill>
        <p:spPr>
          <a:xfrm>
            <a:off x="8594640" y="222120"/>
            <a:ext cx="282240" cy="24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7" name="CaixaDeTexto 2"/>
          <p:cNvSpPr/>
          <p:nvPr/>
        </p:nvSpPr>
        <p:spPr>
          <a:xfrm>
            <a:off x="862920" y="2248560"/>
            <a:ext cx="7066800" cy="28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571680" indent="-571680">
              <a:lnSpc>
                <a:spcPct val="100000"/>
              </a:lnSpc>
              <a:buClr>
                <a:srgbClr val="000000"/>
              </a:buClr>
              <a:buFont typeface="OpenSymbol"/>
              <a:buChar char="-"/>
            </a:pPr>
            <a:r>
              <a:rPr b="1" lang="pt-BR" sz="3600" strike="noStrike" u="none">
                <a:solidFill>
                  <a:schemeClr val="dk1"/>
                </a:solidFill>
                <a:effectLst/>
                <a:uFillTx/>
                <a:latin typeface="-apple-system"/>
                <a:ea typeface="Arial"/>
              </a:rPr>
              <a:t>Do not send offer to everyone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571680" indent="-571680">
              <a:lnSpc>
                <a:spcPct val="100000"/>
              </a:lnSpc>
              <a:buClr>
                <a:srgbClr val="000000"/>
              </a:buClr>
              <a:buFont typeface="OpenSymbol"/>
              <a:buChar char="-"/>
            </a:pPr>
            <a:r>
              <a:rPr b="1" lang="pt-BR" sz="3600" strike="noStrike" u="none">
                <a:solidFill>
                  <a:schemeClr val="dk1"/>
                </a:solidFill>
                <a:effectLst/>
                <a:uFillTx/>
                <a:latin typeface="-apple-system"/>
                <a:ea typeface="Arial"/>
              </a:rPr>
              <a:t>Target your user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571680" indent="-571680">
              <a:lnSpc>
                <a:spcPct val="100000"/>
              </a:lnSpc>
              <a:buClr>
                <a:srgbClr val="000000"/>
              </a:buClr>
              <a:buFont typeface="OpenSymbol"/>
              <a:buChar char="-"/>
            </a:pPr>
            <a:r>
              <a:rPr b="1" lang="pt-BR" sz="3600" strike="noStrike" u="none">
                <a:solidFill>
                  <a:schemeClr val="dk1"/>
                </a:solidFill>
                <a:effectLst/>
                <a:uFillTx/>
                <a:latin typeface="-apple-system"/>
                <a:ea typeface="Arial"/>
              </a:rPr>
              <a:t>Define Marketing Goal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-apple-system"/>
                <a:ea typeface="Arial"/>
              </a:rPr>
              <a:t>            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-apple-system"/>
                <a:ea typeface="Arial"/>
              </a:rPr>
              <a:t>              </a:t>
            </a:r>
            <a:r>
              <a:rPr b="0" lang="pt-BR" sz="1100" strike="noStrike" u="none">
                <a:solidFill>
                  <a:schemeClr val="dk1"/>
                </a:solidFill>
                <a:effectLst/>
                <a:uFillTx/>
                <a:latin typeface="-apple-system"/>
                <a:ea typeface="Arial"/>
              </a:rPr>
              <a:t>-          Goal: new transaction -&gt; Send offers with high value and long duration for users who never transacted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100" strike="noStrike" u="none">
                <a:solidFill>
                  <a:schemeClr val="dk1"/>
                </a:solidFill>
                <a:effectLst/>
                <a:uFillTx/>
                <a:latin typeface="-apple-system"/>
                <a:ea typeface="Arial"/>
              </a:rPr>
              <a:t>               -          Goal: more transactions -&gt; Send offers to those with a high probability of transaction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025;p298" descr=""/>
          <p:cNvPicPr/>
          <p:nvPr/>
        </p:nvPicPr>
        <p:blipFill>
          <a:blip r:embed="rId1"/>
          <a:stretch/>
        </p:blipFill>
        <p:spPr>
          <a:xfrm>
            <a:off x="0" y="0"/>
            <a:ext cx="9143280" cy="517356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79" name="Google Shape;2026;p298"/>
          <p:cNvCxnSpPr/>
          <p:nvPr/>
        </p:nvCxnSpPr>
        <p:spPr>
          <a:xfrm>
            <a:off x="0" y="5143320"/>
            <a:ext cx="9198720" cy="720"/>
          </a:xfrm>
          <a:prstGeom prst="straightConnector1">
            <a:avLst/>
          </a:prstGeom>
          <a:ln w="76200">
            <a:solidFill>
              <a:srgbClr val="ffffff"/>
            </a:solidFill>
            <a:round/>
          </a:ln>
        </p:spPr>
      </p:cxnSp>
      <p:sp>
        <p:nvSpPr>
          <p:cNvPr id="280" name="Google Shape;2027;p298"/>
          <p:cNvSpPr/>
          <p:nvPr/>
        </p:nvSpPr>
        <p:spPr>
          <a:xfrm>
            <a:off x="883080" y="1185480"/>
            <a:ext cx="7426440" cy="84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280" rIns="17280" tIns="17280" bIns="1728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6000" strike="noStrike" u="none"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</a:rPr>
              <a:t>Choosing offer type</a:t>
            </a:r>
            <a:endParaRPr b="0" lang="en-US" sz="6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1" name="Google Shape;2029;p298" descr=""/>
          <p:cNvPicPr/>
          <p:nvPr/>
        </p:nvPicPr>
        <p:blipFill>
          <a:blip r:embed="rId2"/>
          <a:stretch/>
        </p:blipFill>
        <p:spPr>
          <a:xfrm>
            <a:off x="8594640" y="222120"/>
            <a:ext cx="282240" cy="24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2" name="CaixaDeTexto 2"/>
          <p:cNvSpPr/>
          <p:nvPr/>
        </p:nvSpPr>
        <p:spPr>
          <a:xfrm>
            <a:off x="862920" y="2248560"/>
            <a:ext cx="7066800" cy="6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pt-BR" sz="3600" strike="noStrike" u="none">
                <a:solidFill>
                  <a:schemeClr val="dk1"/>
                </a:solidFill>
                <a:effectLst/>
                <a:uFillTx/>
                <a:latin typeface="-apple-system"/>
                <a:ea typeface="Arial"/>
              </a:rPr>
              <a:t>For each user: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CaixaDeTexto 3"/>
          <p:cNvSpPr/>
          <p:nvPr/>
        </p:nvSpPr>
        <p:spPr>
          <a:xfrm>
            <a:off x="929880" y="3084120"/>
            <a:ext cx="7066800" cy="13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pt-BR" sz="1200" strike="noStrike" u="none">
                <a:solidFill>
                  <a:schemeClr val="dk1"/>
                </a:solidFill>
                <a:effectLst/>
                <a:uFillTx/>
                <a:latin typeface="-apple-system"/>
                <a:ea typeface="Arial"/>
              </a:rPr>
              <a:t>1 - Find the probability of the transaction by changing the offer type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200" strike="noStrike" u="none">
                <a:solidFill>
                  <a:schemeClr val="dk1"/>
                </a:solidFill>
                <a:effectLst/>
                <a:uFillTx/>
                <a:latin typeface="-apple-system"/>
                <a:ea typeface="Arial"/>
              </a:rPr>
              <a:t>            - P(transaction | offer type = ‘BOGO’)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200" strike="noStrike" u="none">
                <a:solidFill>
                  <a:schemeClr val="dk1"/>
                </a:solidFill>
                <a:effectLst/>
                <a:uFillTx/>
                <a:latin typeface="-apple-system"/>
                <a:ea typeface="Arial"/>
              </a:rPr>
              <a:t>            - P(transaction | offer type = ‘Discount’)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200" strike="noStrike" u="none">
                <a:solidFill>
                  <a:schemeClr val="dk1"/>
                </a:solidFill>
                <a:effectLst/>
                <a:uFillTx/>
                <a:latin typeface="-apple-system"/>
                <a:ea typeface="Arial"/>
              </a:rPr>
              <a:t>            - P(transaction | offer type = ‘Information’)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200" strike="noStrike" u="none">
                <a:solidFill>
                  <a:schemeClr val="dk1"/>
                </a:solidFill>
                <a:effectLst/>
                <a:uFillTx/>
                <a:latin typeface="-apple-system"/>
                <a:ea typeface="Arial"/>
              </a:rPr>
              <a:t>2 - Choose offer type which resulted in a higher transaction probability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025;p298" descr=""/>
          <p:cNvPicPr/>
          <p:nvPr/>
        </p:nvPicPr>
        <p:blipFill>
          <a:blip r:embed="rId1"/>
          <a:stretch/>
        </p:blipFill>
        <p:spPr>
          <a:xfrm>
            <a:off x="0" y="0"/>
            <a:ext cx="9143280" cy="517356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85" name="Google Shape;2026;p298"/>
          <p:cNvCxnSpPr/>
          <p:nvPr/>
        </p:nvCxnSpPr>
        <p:spPr>
          <a:xfrm>
            <a:off x="0" y="5143320"/>
            <a:ext cx="9198720" cy="720"/>
          </a:xfrm>
          <a:prstGeom prst="straightConnector1">
            <a:avLst/>
          </a:prstGeom>
          <a:ln w="76200">
            <a:solidFill>
              <a:srgbClr val="ffffff"/>
            </a:solidFill>
            <a:round/>
          </a:ln>
        </p:spPr>
      </p:cxnSp>
      <p:sp>
        <p:nvSpPr>
          <p:cNvPr id="286" name="Google Shape;2027;p298"/>
          <p:cNvSpPr/>
          <p:nvPr/>
        </p:nvSpPr>
        <p:spPr>
          <a:xfrm>
            <a:off x="883080" y="1185480"/>
            <a:ext cx="7426440" cy="84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280" rIns="17280" tIns="17280" bIns="1728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6000" strike="noStrike" u="none"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</a:rPr>
              <a:t>Causality</a:t>
            </a:r>
            <a:endParaRPr b="0" lang="en-US" sz="6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7" name="Google Shape;2029;p298" descr=""/>
          <p:cNvPicPr/>
          <p:nvPr/>
        </p:nvPicPr>
        <p:blipFill>
          <a:blip r:embed="rId2"/>
          <a:stretch/>
        </p:blipFill>
        <p:spPr>
          <a:xfrm>
            <a:off x="8594640" y="222120"/>
            <a:ext cx="282240" cy="24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8" name="CaixaDeTexto 2"/>
          <p:cNvSpPr/>
          <p:nvPr/>
        </p:nvSpPr>
        <p:spPr>
          <a:xfrm>
            <a:off x="862920" y="2248560"/>
            <a:ext cx="7066800" cy="6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pt-BR" sz="3600" strike="noStrike" u="none">
                <a:solidFill>
                  <a:schemeClr val="dk1"/>
                </a:solidFill>
                <a:effectLst/>
                <a:uFillTx/>
                <a:latin typeface="-apple-system"/>
                <a:ea typeface="Arial"/>
              </a:rPr>
              <a:t>Some users transact anyway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CaixaDeTexto 3"/>
          <p:cNvSpPr/>
          <p:nvPr/>
        </p:nvSpPr>
        <p:spPr>
          <a:xfrm>
            <a:off x="929880" y="3084120"/>
            <a:ext cx="7066800" cy="6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pt-BR" sz="1200" strike="noStrike" u="none">
                <a:solidFill>
                  <a:schemeClr val="dk1"/>
                </a:solidFill>
                <a:effectLst/>
                <a:uFillTx/>
                <a:latin typeface="-apple-system"/>
                <a:ea typeface="Arial"/>
              </a:rPr>
              <a:t>- Use the uplift model. Send the offers for those users who: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200" strike="noStrike" u="none">
                <a:solidFill>
                  <a:schemeClr val="dk1"/>
                </a:solidFill>
                <a:effectLst/>
                <a:uFillTx/>
                <a:latin typeface="-apple-system"/>
                <a:ea typeface="Arial"/>
              </a:rPr>
              <a:t>Probability of transacting with offer – Probability of transacting without offer &gt;= some predefined threshold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971;p174" descr=""/>
          <p:cNvPicPr/>
          <p:nvPr/>
        </p:nvPicPr>
        <p:blipFill>
          <a:blip r:embed="rId1"/>
          <a:stretch/>
        </p:blipFill>
        <p:spPr>
          <a:xfrm>
            <a:off x="0" y="0"/>
            <a:ext cx="9143280" cy="5173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2696760" y="2202480"/>
            <a:ext cx="4160880" cy="73764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6000" strike="noStrike" u="none">
                <a:solidFill>
                  <a:schemeClr val="lt1"/>
                </a:solidFill>
                <a:effectLst/>
                <a:uFillTx/>
                <a:latin typeface="Helvetica Neue"/>
                <a:ea typeface="Helvetica Neue"/>
              </a:rPr>
              <a:t>Obrigado!</a:t>
            </a:r>
            <a:endParaRPr b="0" lang="en-US" sz="6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92" name="Google Shape;973;p174"/>
          <p:cNvCxnSpPr/>
          <p:nvPr/>
        </p:nvCxnSpPr>
        <p:spPr>
          <a:xfrm>
            <a:off x="0" y="5143320"/>
            <a:ext cx="9198720" cy="720"/>
          </a:xfrm>
          <a:prstGeom prst="straightConnector1">
            <a:avLst/>
          </a:prstGeom>
          <a:ln w="76200">
            <a:solidFill>
              <a:srgbClr val="ffffff"/>
            </a:solidFill>
            <a:round/>
          </a:ln>
        </p:spPr>
      </p:cxnSp>
      <p:pic>
        <p:nvPicPr>
          <p:cNvPr id="293" name="Google Shape;974;p174" descr=""/>
          <p:cNvPicPr/>
          <p:nvPr/>
        </p:nvPicPr>
        <p:blipFill>
          <a:blip r:embed="rId2"/>
          <a:stretch/>
        </p:blipFill>
        <p:spPr>
          <a:xfrm>
            <a:off x="4416840" y="4138200"/>
            <a:ext cx="363600" cy="32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4" name="PlaceHolder 2"/>
          <p:cNvSpPr>
            <a:spLocks noGrp="1"/>
          </p:cNvSpPr>
          <p:nvPr>
            <p:ph/>
          </p:nvPr>
        </p:nvSpPr>
        <p:spPr>
          <a:xfrm>
            <a:off x="3240000" y="3013920"/>
            <a:ext cx="2352960" cy="26820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200" strike="noStrike" u="none">
                <a:solidFill>
                  <a:schemeClr val="lt1"/>
                </a:solidFill>
                <a:effectLst/>
                <a:uFillTx/>
                <a:latin typeface="Helvetica Neue Light"/>
                <a:ea typeface="Helvetica Neue Light"/>
              </a:rPr>
              <a:t>Amir.jalilifard@gmail.com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1 iFood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11335</TotalTime>
  <Application>LibreOffice/25.2.5.2$Linux_X86_64 LibreOffice_project/520$Build-2</Application>
  <AppVersion>15.0000</AppVersion>
  <Words>884</Words>
  <Paragraphs>122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2025-09-04T09:31:57Z</dcterms:modified>
  <cp:revision>18</cp:revision>
  <dc:subject/>
  <dc:title>Apresentação do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Apresentação na tela (16:9)</vt:lpwstr>
  </property>
  <property fmtid="{D5CDD505-2E9C-101B-9397-08002B2CF9AE}" pid="4" name="Slides">
    <vt:i4>28</vt:i4>
  </property>
</Properties>
</file>